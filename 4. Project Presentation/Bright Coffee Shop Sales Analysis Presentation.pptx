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820" r:id="rId5"/>
    <p:sldId id="821" r:id="rId6"/>
    <p:sldId id="822" r:id="rId7"/>
    <p:sldId id="837" r:id="rId8"/>
    <p:sldId id="823" r:id="rId9"/>
    <p:sldId id="836" r:id="rId10"/>
    <p:sldId id="824" r:id="rId11"/>
    <p:sldId id="839" r:id="rId12"/>
    <p:sldId id="83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3840" userDrawn="1">
          <p15:clr>
            <a:srgbClr val="A4A3A4"/>
          </p15:clr>
        </p15:guide>
        <p15:guide id="4" orient="horz" pos="4088" userDrawn="1">
          <p15:clr>
            <a:srgbClr val="A4A3A4"/>
          </p15:clr>
        </p15:guide>
        <p15:guide id="5" pos="234" userDrawn="1">
          <p15:clr>
            <a:srgbClr val="A4A3A4"/>
          </p15:clr>
        </p15:guide>
        <p15:guide id="6" orient="horz" pos="867" userDrawn="1">
          <p15:clr>
            <a:srgbClr val="A4A3A4"/>
          </p15:clr>
        </p15:guide>
        <p15:guide id="7" pos="4770" userDrawn="1">
          <p15:clr>
            <a:srgbClr val="A4A3A4"/>
          </p15:clr>
        </p15:guide>
        <p15:guide id="8" orient="horz" pos="2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2F08"/>
    <a:srgbClr val="FBEAD9"/>
    <a:srgbClr val="EEE7E3"/>
    <a:srgbClr val="853F00"/>
    <a:srgbClr val="91623C"/>
    <a:srgbClr val="C49570"/>
    <a:srgbClr val="E3CBBA"/>
    <a:srgbClr val="2B9C4F"/>
    <a:srgbClr val="91CF50"/>
    <a:srgbClr val="843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08C1BD-5C66-41B2-A58F-3F4BD489AB9B}" v="268" dt="2026-03-31T15:28:56.023"/>
  </p1510:revLst>
</p1510:revInfo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713" autoAdjust="0"/>
    <p:restoredTop sz="94558" autoAdjust="0"/>
  </p:normalViewPr>
  <p:slideViewPr>
    <p:cSldViewPr snapToGrid="0">
      <p:cViewPr>
        <p:scale>
          <a:sx n="80" d="100"/>
          <a:sy n="80" d="100"/>
        </p:scale>
        <p:origin x="588" y="978"/>
      </p:cViewPr>
      <p:guideLst>
        <p:guide pos="3840"/>
        <p:guide orient="horz" pos="4088"/>
        <p:guide pos="234"/>
        <p:guide orient="horz" pos="867"/>
        <p:guide pos="4770"/>
        <p:guide orient="horz" pos="232"/>
      </p:guideLst>
    </p:cSldViewPr>
  </p:slideViewPr>
  <p:outlineViewPr>
    <p:cViewPr>
      <p:scale>
        <a:sx n="75" d="100"/>
        <a:sy n="75" d="100"/>
      </p:scale>
      <p:origin x="0" y="-1857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757"/>
    </p:cViewPr>
  </p:sorterViewPr>
  <p:notesViewPr>
    <p:cSldViewPr snapToGrid="0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standardbank-my.sharepoint.com/personal/refilwe_mofokeng2_standardbank_co_za/Documents/Documents/personal/DS%20Course/Project%201/BrightLearn-Coffee-Shop-Sales/Data%20Analys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standardbank-my.sharepoint.com/personal/refilwe_mofokeng2_standardbank_co_za/Documents/Documents/personal/DS%20Course/Project%201/BrightLearn-Coffee-Shop-Sales/Data%20Analysi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standardbank-my.sharepoint.com/personal/refilwe_mofokeng2_standardbank_co_za/Documents/Documents/personal/DS%20Course/Project%201/BrightLearn-Coffee-Shop-Sales/Data%20Analysi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standardbank-my.sharepoint.com/personal/refilwe_mofokeng2_standardbank_co_za/Documents/Documents/personal/DS%20Course/Project%201/BrightLearn-Coffee-Shop-Sales/Data%20Analysi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standardbank-my.sharepoint.com/personal/refilwe_mofokeng2_standardbank_co_za/Documents/Documents/personal/DS%20Course/Project%201/BrightLearn-Coffee-Shop-Sales/Data%20Analysi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standardbank-my.sharepoint.com/personal/refilwe_mofokeng2_standardbank_co_za/Documents/Documents/personal/DS%20Course/Project%201/BrightLearn-Coffee-Shop-Sales/Data%20Analysi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standardbank-my.sharepoint.com/personal/refilwe_mofokeng2_standardbank_co_za/Documents/Documents/personal/DS%20Course/Project%201/BrightLearn-Coffee-Shop-Sales/Data%20Analysis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 Analysis.xlsx]Revenue By Day or Time Analysis!PivotTable12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 sz="1400" b="0" i="0" u="none" strike="noStrike" baseline="0">
                <a:effectLst/>
              </a:rPr>
              <a:t>M-o-M Revenue Trend by Store Location </a:t>
            </a:r>
            <a:endParaRPr lang="en-ZA"/>
          </a:p>
        </c:rich>
      </c:tx>
      <c:layout>
        <c:manualLayout>
          <c:xMode val="edge"/>
          <c:yMode val="edge"/>
          <c:x val="0.25599382883947402"/>
          <c:y val="1.774091144980265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ZA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'Revenue By Day or Time Analysis'!$B$17:$B$18</c:f>
              <c:strCache>
                <c:ptCount val="1"/>
                <c:pt idx="0">
                  <c:v>Astoria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'Revenue By Day or Time Analysis'!$A$19:$A$25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'Revenue By Day or Time Analysis'!$B$19:$B$25</c:f>
              <c:numCache>
                <c:formatCode>_-[$R-1C09]* #\ ##0.00_-;\-[$R-1C09]* #\ ##0.00_-;_-[$R-1C09]* "-"??_-;_-@_-</c:formatCode>
                <c:ptCount val="6"/>
                <c:pt idx="0">
                  <c:v>27313.660000000076</c:v>
                </c:pt>
                <c:pt idx="1">
                  <c:v>25105.340000000077</c:v>
                </c:pt>
                <c:pt idx="2">
                  <c:v>32835.430000000029</c:v>
                </c:pt>
                <c:pt idx="3">
                  <c:v>39477.609999999833</c:v>
                </c:pt>
                <c:pt idx="4">
                  <c:v>52428.759999999318</c:v>
                </c:pt>
                <c:pt idx="5">
                  <c:v>55083.109999999266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64-4D55-97F0-B5B16609C5AC}"/>
            </c:ext>
          </c:extLst>
        </c:ser>
        <c:ser>
          <c:idx val="1"/>
          <c:order val="1"/>
          <c:tx>
            <c:strRef>
              <c:f>'Revenue By Day or Time Analysis'!$C$17:$C$18</c:f>
              <c:strCache>
                <c:ptCount val="1"/>
                <c:pt idx="0">
                  <c:v>Hell's Kitchen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'Revenue By Day or Time Analysis'!$A$19:$A$25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'Revenue By Day or Time Analysis'!$C$19:$C$25</c:f>
              <c:numCache>
                <c:formatCode>_-[$R-1C09]* #\ ##0.00_-;\-[$R-1C09]* #\ ##0.00_-;_-[$R-1C09]* "-"??_-;_-@_-</c:formatCode>
                <c:ptCount val="6"/>
                <c:pt idx="0">
                  <c:v>27820.649999999969</c:v>
                </c:pt>
                <c:pt idx="1">
                  <c:v>25719.799999999963</c:v>
                </c:pt>
                <c:pt idx="2">
                  <c:v>33110.569999999854</c:v>
                </c:pt>
                <c:pt idx="3">
                  <c:v>40304.139999999745</c:v>
                </c:pt>
                <c:pt idx="4">
                  <c:v>52598.929999999375</c:v>
                </c:pt>
                <c:pt idx="5">
                  <c:v>56957.079999999347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64-4D55-97F0-B5B16609C5AC}"/>
            </c:ext>
          </c:extLst>
        </c:ser>
        <c:ser>
          <c:idx val="2"/>
          <c:order val="2"/>
          <c:tx>
            <c:strRef>
              <c:f>'Revenue By Day or Time Analysis'!$D$17:$D$18</c:f>
              <c:strCache>
                <c:ptCount val="1"/>
                <c:pt idx="0">
                  <c:v>Lower Manhattan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'Revenue By Day or Time Analysis'!$A$19:$A$25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'Revenue By Day or Time Analysis'!$D$19:$D$25</c:f>
              <c:numCache>
                <c:formatCode>_-[$R-1C09]* #\ ##0.00_-;\-[$R-1C09]* #\ ##0.00_-;_-[$R-1C09]* "-"??_-;_-@_-</c:formatCode>
                <c:ptCount val="6"/>
                <c:pt idx="0">
                  <c:v>26543.429999999942</c:v>
                </c:pt>
                <c:pt idx="1">
                  <c:v>25320.049999999905</c:v>
                </c:pt>
                <c:pt idx="2">
                  <c:v>32888.679999999811</c:v>
                </c:pt>
                <c:pt idx="3">
                  <c:v>39159.329999999653</c:v>
                </c:pt>
                <c:pt idx="4">
                  <c:v>51700.069999999592</c:v>
                </c:pt>
                <c:pt idx="5">
                  <c:v>54445.689999999653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164-4D55-97F0-B5B16609C5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61813776"/>
        <c:axId val="1661820976"/>
      </c:barChart>
      <c:catAx>
        <c:axId val="1661813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1820976"/>
        <c:crosses val="autoZero"/>
        <c:auto val="1"/>
        <c:lblAlgn val="ctr"/>
        <c:lblOffset val="100"/>
        <c:noMultiLvlLbl val="0"/>
      </c:catAx>
      <c:valAx>
        <c:axId val="1661820976"/>
        <c:scaling>
          <c:orientation val="minMax"/>
        </c:scaling>
        <c:delete val="0"/>
        <c:axPos val="l"/>
        <c:numFmt formatCode="_-[$R-1C09]* #\ ##0.00_-;\-[$R-1C09]* #\ ##0.00_-;_-[$R-1C09]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1813776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 Analysis.xlsx]Revenue By Day or Time Analysis!PivotTable13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 sz="1400" b="0" i="0" u="none" strike="noStrike" baseline="0">
                <a:effectLst/>
              </a:rPr>
              <a:t>Revenue by Day of Week &amp; Store </a:t>
            </a:r>
            <a:endParaRPr lang="en-ZA"/>
          </a:p>
        </c:rich>
      </c:tx>
      <c:layout>
        <c:manualLayout>
          <c:xMode val="edge"/>
          <c:yMode val="edge"/>
          <c:x val="0.35151596368850391"/>
          <c:y val="2.661136717470397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ZA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'Revenue By Day or Time Analysis'!$B$28:$B$29</c:f>
              <c:strCache>
                <c:ptCount val="1"/>
                <c:pt idx="0">
                  <c:v>Astoria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'Revenue By Day or Time Analysis'!$A$30:$A$37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'Revenue By Day or Time Analysis'!$B$30:$B$37</c:f>
              <c:numCache>
                <c:formatCode>_("R"* #,##0.00_);_("R"* \(#,##0.00\);_("R"* "-"??_);_(@_)</c:formatCode>
                <c:ptCount val="7"/>
                <c:pt idx="0">
                  <c:v>32795.180000000008</c:v>
                </c:pt>
                <c:pt idx="1">
                  <c:v>33928.29000000003</c:v>
                </c:pt>
                <c:pt idx="2">
                  <c:v>31816.760000000093</c:v>
                </c:pt>
                <c:pt idx="3">
                  <c:v>34244.629999999997</c:v>
                </c:pt>
                <c:pt idx="4">
                  <c:v>34140.369999999966</c:v>
                </c:pt>
                <c:pt idx="5">
                  <c:v>33472.750000000087</c:v>
                </c:pt>
                <c:pt idx="6">
                  <c:v>31845.930000000018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1D-4154-BCF9-CDBC4BFA5A3D}"/>
            </c:ext>
          </c:extLst>
        </c:ser>
        <c:ser>
          <c:idx val="1"/>
          <c:order val="1"/>
          <c:tx>
            <c:strRef>
              <c:f>'Revenue By Day or Time Analysis'!$C$28:$C$29</c:f>
              <c:strCache>
                <c:ptCount val="1"/>
                <c:pt idx="0">
                  <c:v>Hell's Kitchen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'Revenue By Day or Time Analysis'!$A$30:$A$37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'Revenue By Day or Time Analysis'!$C$30:$C$37</c:f>
              <c:numCache>
                <c:formatCode>_("R"* #,##0.00_);_("R"* \(#,##0.00\);_("R"* "-"??_);_(@_)</c:formatCode>
                <c:ptCount val="7"/>
                <c:pt idx="0">
                  <c:v>33685.62999999991</c:v>
                </c:pt>
                <c:pt idx="1">
                  <c:v>33389.509999999951</c:v>
                </c:pt>
                <c:pt idx="2">
                  <c:v>34846.469999999943</c:v>
                </c:pt>
                <c:pt idx="3">
                  <c:v>33779.089999999931</c:v>
                </c:pt>
                <c:pt idx="4">
                  <c:v>33468.059999999918</c:v>
                </c:pt>
                <c:pt idx="5">
                  <c:v>34743.179999999877</c:v>
                </c:pt>
                <c:pt idx="6">
                  <c:v>32599.22999999996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1D-4154-BCF9-CDBC4BFA5A3D}"/>
            </c:ext>
          </c:extLst>
        </c:ser>
        <c:ser>
          <c:idx val="2"/>
          <c:order val="2"/>
          <c:tx>
            <c:strRef>
              <c:f>'Revenue By Day or Time Analysis'!$D$28:$D$29</c:f>
              <c:strCache>
                <c:ptCount val="1"/>
                <c:pt idx="0">
                  <c:v>Lower Manhattan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'Revenue By Day or Time Analysis'!$A$30:$A$37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'Revenue By Day or Time Analysis'!$D$30:$D$37</c:f>
              <c:numCache>
                <c:formatCode>_("R"* #,##0.00_);_("R"* \(#,##0.00\);_("R"* "-"??_);_(@_)</c:formatCode>
                <c:ptCount val="7"/>
                <c:pt idx="0">
                  <c:v>31849.499999999905</c:v>
                </c:pt>
                <c:pt idx="1">
                  <c:v>34359.479999999894</c:v>
                </c:pt>
                <c:pt idx="2">
                  <c:v>32792.70999999997</c:v>
                </c:pt>
                <c:pt idx="3">
                  <c:v>32289.819999999818</c:v>
                </c:pt>
                <c:pt idx="4">
                  <c:v>33159.349999999933</c:v>
                </c:pt>
                <c:pt idx="5">
                  <c:v>33157.069999999905</c:v>
                </c:pt>
                <c:pt idx="6">
                  <c:v>32449.319999999854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C1D-4154-BCF9-CDBC4BFA5A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7517152"/>
        <c:axId val="207517632"/>
      </c:barChart>
      <c:catAx>
        <c:axId val="207517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517632"/>
        <c:crosses val="autoZero"/>
        <c:auto val="1"/>
        <c:lblAlgn val="ctr"/>
        <c:lblOffset val="100"/>
        <c:noMultiLvlLbl val="0"/>
      </c:catAx>
      <c:valAx>
        <c:axId val="207517632"/>
        <c:scaling>
          <c:orientation val="minMax"/>
        </c:scaling>
        <c:delete val="0"/>
        <c:axPos val="l"/>
        <c:numFmt formatCode="_(&quot;R&quot;* #,##0.00_);_(&quot;R&quot;* \(#,##0.00\);_(&quot;R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51715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 Analysis.xlsx]Revenue By Day or Time Analysis!PivotTable15</c:name>
    <c:fmtId val="11"/>
  </c:pivotSource>
  <c:chart>
    <c:title>
      <c:layout>
        <c:manualLayout>
          <c:xMode val="edge"/>
          <c:yMode val="edge"/>
          <c:x val="0.42372901748480768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doughnutChart>
        <c:varyColors val="1"/>
        <c:ser>
          <c:idx val="0"/>
          <c:order val="0"/>
          <c:tx>
            <c:strRef>
              <c:f>'Revenue By Day or Time Analysis'!$B$49:$B$50</c:f>
              <c:strCache>
                <c:ptCount val="1"/>
                <c:pt idx="0">
                  <c:v>Astoria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BBC-46FC-B748-9D4F5E27777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BBC-46FC-B748-9D4F5E27777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BBC-46FC-B748-9D4F5E27777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BBC-46FC-B748-9D4F5E277775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EBBC-46FC-B748-9D4F5E277775}"/>
              </c:ext>
            </c:extLst>
          </c:dPt>
          <c:cat>
            <c:strRef>
              <c:f>'Revenue By Day or Time Analysis'!$A$51:$A$56</c:f>
              <c:strCache>
                <c:ptCount val="5"/>
                <c:pt idx="0">
                  <c:v>01. Morning Rush</c:v>
                </c:pt>
                <c:pt idx="1">
                  <c:v>02. Mid-Morning</c:v>
                </c:pt>
                <c:pt idx="2">
                  <c:v>03. Afternoon</c:v>
                </c:pt>
                <c:pt idx="3">
                  <c:v>04. Evening</c:v>
                </c:pt>
                <c:pt idx="4">
                  <c:v>05. Night</c:v>
                </c:pt>
              </c:strCache>
            </c:strRef>
          </c:cat>
          <c:val>
            <c:numRef>
              <c:f>'Revenue By Day or Time Analysis'!$B$51:$B$56</c:f>
              <c:numCache>
                <c:formatCode>0.00%</c:formatCode>
                <c:ptCount val="5"/>
                <c:pt idx="0">
                  <c:v>0.18013260283122232</c:v>
                </c:pt>
                <c:pt idx="1">
                  <c:v>0.27173078510433091</c:v>
                </c:pt>
                <c:pt idx="2">
                  <c:v>0.3382958028910199</c:v>
                </c:pt>
                <c:pt idx="3">
                  <c:v>0.13688453660636501</c:v>
                </c:pt>
                <c:pt idx="4">
                  <c:v>7.2956272567061858E-2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BBC-46FC-B748-9D4F5E2777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 Analysis.xlsx]Revenue By Day or Time Analysis!PivotTable1</c:name>
    <c:fmtId val="11"/>
  </c:pivotSource>
  <c:chart>
    <c:title>
      <c:layout>
        <c:manualLayout>
          <c:xMode val="edge"/>
          <c:yMode val="edge"/>
          <c:x val="0.37492546275095479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doughnutChart>
        <c:varyColors val="1"/>
        <c:ser>
          <c:idx val="0"/>
          <c:order val="0"/>
          <c:tx>
            <c:strRef>
              <c:f>'Revenue By Day or Time Analysis'!$F$49:$F$50</c:f>
              <c:strCache>
                <c:ptCount val="1"/>
                <c:pt idx="0">
                  <c:v>Hell's Kitchen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109-4B3B-B3FF-9EE50884891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109-4B3B-B3FF-9EE50884891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109-4B3B-B3FF-9EE50884891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109-4B3B-B3FF-9EE508848918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2109-4B3B-B3FF-9EE508848918}"/>
              </c:ext>
            </c:extLst>
          </c:dPt>
          <c:cat>
            <c:strRef>
              <c:f>'Revenue By Day or Time Analysis'!$E$51:$E$56</c:f>
              <c:strCache>
                <c:ptCount val="5"/>
                <c:pt idx="0">
                  <c:v>01. Morning Rush</c:v>
                </c:pt>
                <c:pt idx="1">
                  <c:v>02. Mid-Morning</c:v>
                </c:pt>
                <c:pt idx="2">
                  <c:v>03. Afternoon</c:v>
                </c:pt>
                <c:pt idx="3">
                  <c:v>04. Evening</c:v>
                </c:pt>
                <c:pt idx="4">
                  <c:v>05. Night</c:v>
                </c:pt>
              </c:strCache>
            </c:strRef>
          </c:cat>
          <c:val>
            <c:numRef>
              <c:f>'Revenue By Day or Time Analysis'!$F$51:$F$56</c:f>
              <c:numCache>
                <c:formatCode>0.00%</c:formatCode>
                <c:ptCount val="5"/>
                <c:pt idx="0">
                  <c:v>0.23270215947940087</c:v>
                </c:pt>
                <c:pt idx="1">
                  <c:v>0.35688225634332776</c:v>
                </c:pt>
                <c:pt idx="2">
                  <c:v>0.24951223233980743</c:v>
                </c:pt>
                <c:pt idx="3">
                  <c:v>0.1042348655245337</c:v>
                </c:pt>
                <c:pt idx="4">
                  <c:v>5.6668486312930214E-2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109-4B3B-B3FF-9EE5088489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 Analysis.xlsx]Revenue By Day or Time Analysis!PivotTable2</c:name>
    <c:fmtId val="13"/>
  </c:pivotSource>
  <c:chart>
    <c:title>
      <c:layout>
        <c:manualLayout>
          <c:xMode val="edge"/>
          <c:yMode val="edge"/>
          <c:x val="0.34038973116576449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doughnutChart>
        <c:varyColors val="1"/>
        <c:ser>
          <c:idx val="0"/>
          <c:order val="0"/>
          <c:tx>
            <c:strRef>
              <c:f>'Revenue By Day or Time Analysis'!$J$49:$J$50</c:f>
              <c:strCache>
                <c:ptCount val="1"/>
                <c:pt idx="0">
                  <c:v>Lower Manhattan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4C8-4E38-A43E-166A9BD8AB4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4C8-4E38-A43E-166A9BD8AB4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4C8-4E38-A43E-166A9BD8AB4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4C8-4E38-A43E-166A9BD8AB4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F4C8-4E38-A43E-166A9BD8AB4D}"/>
              </c:ext>
            </c:extLst>
          </c:dPt>
          <c:cat>
            <c:strRef>
              <c:f>'Revenue By Day or Time Analysis'!$I$51:$I$56</c:f>
              <c:strCache>
                <c:ptCount val="5"/>
                <c:pt idx="0">
                  <c:v>01. Morning Rush</c:v>
                </c:pt>
                <c:pt idx="1">
                  <c:v>02. Mid-Morning</c:v>
                </c:pt>
                <c:pt idx="2">
                  <c:v>03. Afternoon</c:v>
                </c:pt>
                <c:pt idx="3">
                  <c:v>04. Evening</c:v>
                </c:pt>
                <c:pt idx="4">
                  <c:v>05. Night</c:v>
                </c:pt>
              </c:strCache>
            </c:strRef>
          </c:cat>
          <c:val>
            <c:numRef>
              <c:f>'Revenue By Day or Time Analysis'!$J$51:$J$56</c:f>
              <c:numCache>
                <c:formatCode>0.00%</c:formatCode>
                <c:ptCount val="5"/>
                <c:pt idx="0">
                  <c:v>0.30972833935900773</c:v>
                </c:pt>
                <c:pt idx="1">
                  <c:v>0.31578052854235217</c:v>
                </c:pt>
                <c:pt idx="2">
                  <c:v>0.29184587749353585</c:v>
                </c:pt>
                <c:pt idx="3">
                  <c:v>7.8142288495581524E-2</c:v>
                </c:pt>
                <c:pt idx="4">
                  <c:v>4.5029661095227587E-3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4C8-4E38-A43E-166A9BD8AB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 Analysis.xlsx]Revenue By Day or Time Analysis!PivotTable3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/>
              <a:t>Product Performance By Store Location</a:t>
            </a:r>
          </a:p>
        </c:rich>
      </c:tx>
      <c:layout>
        <c:manualLayout>
          <c:xMode val="edge"/>
          <c:yMode val="edge"/>
          <c:x val="0.22950212528743641"/>
          <c:y val="3.6356391110032187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'Revenue By Day or Time Analysis'!$B$114:$B$115</c:f>
              <c:strCache>
                <c:ptCount val="1"/>
                <c:pt idx="0">
                  <c:v>Astoria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'Revenue By Day or Time Analysis'!$A$116:$A$125</c:f>
              <c:strCache>
                <c:ptCount val="9"/>
                <c:pt idx="0">
                  <c:v>Packaged Chocolate</c:v>
                </c:pt>
                <c:pt idx="1">
                  <c:v>Flavours</c:v>
                </c:pt>
                <c:pt idx="2">
                  <c:v>Loose Tea</c:v>
                </c:pt>
                <c:pt idx="3">
                  <c:v>Branded</c:v>
                </c:pt>
                <c:pt idx="4">
                  <c:v>Coffee beans</c:v>
                </c:pt>
                <c:pt idx="5">
                  <c:v>Drinking Chocolate</c:v>
                </c:pt>
                <c:pt idx="6">
                  <c:v>Bakery</c:v>
                </c:pt>
                <c:pt idx="7">
                  <c:v>Tea</c:v>
                </c:pt>
                <c:pt idx="8">
                  <c:v>Coffee</c:v>
                </c:pt>
              </c:strCache>
            </c:strRef>
          </c:cat>
          <c:val>
            <c:numRef>
              <c:f>'Revenue By Day or Time Analysis'!$B$116:$B$125</c:f>
              <c:numCache>
                <c:formatCode>General</c:formatCode>
                <c:ptCount val="9"/>
                <c:pt idx="0">
                  <c:v>1089.7100000000009</c:v>
                </c:pt>
                <c:pt idx="1">
                  <c:v>1764.7999999999561</c:v>
                </c:pt>
                <c:pt idx="2">
                  <c:v>3193.9999999999891</c:v>
                </c:pt>
                <c:pt idx="3">
                  <c:v>5457</c:v>
                </c:pt>
                <c:pt idx="4">
                  <c:v>10219.200000000001</c:v>
                </c:pt>
                <c:pt idx="5">
                  <c:v>26335.25</c:v>
                </c:pt>
                <c:pt idx="6">
                  <c:v>26599.75</c:v>
                </c:pt>
                <c:pt idx="7">
                  <c:v>67839.899999998961</c:v>
                </c:pt>
                <c:pt idx="8">
                  <c:v>89744.29999999571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45-48CC-86E1-5C1A5E043EDC}"/>
            </c:ext>
          </c:extLst>
        </c:ser>
        <c:ser>
          <c:idx val="1"/>
          <c:order val="1"/>
          <c:tx>
            <c:strRef>
              <c:f>'Revenue By Day or Time Analysis'!$C$114:$C$115</c:f>
              <c:strCache>
                <c:ptCount val="1"/>
                <c:pt idx="0">
                  <c:v>Hell's Kitchen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'Revenue By Day or Time Analysis'!$A$116:$A$125</c:f>
              <c:strCache>
                <c:ptCount val="9"/>
                <c:pt idx="0">
                  <c:v>Packaged Chocolate</c:v>
                </c:pt>
                <c:pt idx="1">
                  <c:v>Flavours</c:v>
                </c:pt>
                <c:pt idx="2">
                  <c:v>Loose Tea</c:v>
                </c:pt>
                <c:pt idx="3">
                  <c:v>Branded</c:v>
                </c:pt>
                <c:pt idx="4">
                  <c:v>Coffee beans</c:v>
                </c:pt>
                <c:pt idx="5">
                  <c:v>Drinking Chocolate</c:v>
                </c:pt>
                <c:pt idx="6">
                  <c:v>Bakery</c:v>
                </c:pt>
                <c:pt idx="7">
                  <c:v>Tea</c:v>
                </c:pt>
                <c:pt idx="8">
                  <c:v>Coffee</c:v>
                </c:pt>
              </c:strCache>
            </c:strRef>
          </c:cat>
          <c:val>
            <c:numRef>
              <c:f>'Revenue By Day or Time Analysis'!$C$116:$C$125</c:f>
              <c:numCache>
                <c:formatCode>General</c:formatCode>
                <c:ptCount val="9"/>
                <c:pt idx="0">
                  <c:v>1698.7699999999986</c:v>
                </c:pt>
                <c:pt idx="1">
                  <c:v>2876.7999999999688</c:v>
                </c:pt>
                <c:pt idx="2">
                  <c:v>4461.3499999999694</c:v>
                </c:pt>
                <c:pt idx="3">
                  <c:v>1942</c:v>
                </c:pt>
                <c:pt idx="4">
                  <c:v>18635.10000000002</c:v>
                </c:pt>
                <c:pt idx="5">
                  <c:v>23586.25</c:v>
                </c:pt>
                <c:pt idx="6">
                  <c:v>27386.950000000012</c:v>
                </c:pt>
                <c:pt idx="7">
                  <c:v>64701.299999999093</c:v>
                </c:pt>
                <c:pt idx="8">
                  <c:v>91222.649999996574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45-48CC-86E1-5C1A5E043EDC}"/>
            </c:ext>
          </c:extLst>
        </c:ser>
        <c:ser>
          <c:idx val="2"/>
          <c:order val="2"/>
          <c:tx>
            <c:strRef>
              <c:f>'Revenue By Day or Time Analysis'!$D$114:$D$115</c:f>
              <c:strCache>
                <c:ptCount val="1"/>
                <c:pt idx="0">
                  <c:v>Lower Manhattan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'Revenue By Day or Time Analysis'!$A$116:$A$125</c:f>
              <c:strCache>
                <c:ptCount val="9"/>
                <c:pt idx="0">
                  <c:v>Packaged Chocolate</c:v>
                </c:pt>
                <c:pt idx="1">
                  <c:v>Flavours</c:v>
                </c:pt>
                <c:pt idx="2">
                  <c:v>Loose Tea</c:v>
                </c:pt>
                <c:pt idx="3">
                  <c:v>Branded</c:v>
                </c:pt>
                <c:pt idx="4">
                  <c:v>Coffee beans</c:v>
                </c:pt>
                <c:pt idx="5">
                  <c:v>Drinking Chocolate</c:v>
                </c:pt>
                <c:pt idx="6">
                  <c:v>Bakery</c:v>
                </c:pt>
                <c:pt idx="7">
                  <c:v>Tea</c:v>
                </c:pt>
                <c:pt idx="8">
                  <c:v>Coffee</c:v>
                </c:pt>
              </c:strCache>
            </c:strRef>
          </c:cat>
          <c:val>
            <c:numRef>
              <c:f>'Revenue By Day or Time Analysis'!$D$116:$D$125</c:f>
              <c:numCache>
                <c:formatCode>General</c:formatCode>
                <c:ptCount val="9"/>
                <c:pt idx="0">
                  <c:v>1619.1599999999978</c:v>
                </c:pt>
                <c:pt idx="1">
                  <c:v>3767.1999999999962</c:v>
                </c:pt>
                <c:pt idx="2">
                  <c:v>3558.2499999999859</c:v>
                </c:pt>
                <c:pt idx="3">
                  <c:v>6208</c:v>
                </c:pt>
                <c:pt idx="4">
                  <c:v>11230.950000000004</c:v>
                </c:pt>
                <c:pt idx="5">
                  <c:v>22494.5</c:v>
                </c:pt>
                <c:pt idx="6">
                  <c:v>28328.940000000075</c:v>
                </c:pt>
                <c:pt idx="7">
                  <c:v>63864.749999999272</c:v>
                </c:pt>
                <c:pt idx="8">
                  <c:v>88985.499999997002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E45-48CC-86E1-5C1A5E043E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66708000"/>
        <c:axId val="366714240"/>
      </c:barChart>
      <c:catAx>
        <c:axId val="3667080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6714240"/>
        <c:crosses val="autoZero"/>
        <c:auto val="1"/>
        <c:lblAlgn val="ctr"/>
        <c:lblOffset val="100"/>
        <c:noMultiLvlLbl val="0"/>
      </c:catAx>
      <c:valAx>
        <c:axId val="3667142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6708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/>
              <a:t>Proportion</a:t>
            </a:r>
            <a:r>
              <a:rPr lang="en-US" sz="1400" baseline="0" dirty="0"/>
              <a:t> of Product Performance relative to Revenue</a:t>
            </a:r>
            <a:endParaRPr lang="en-US" sz="1400" dirty="0"/>
          </a:p>
        </c:rich>
      </c:tx>
      <c:layout>
        <c:manualLayout>
          <c:xMode val="edge"/>
          <c:yMode val="edge"/>
          <c:x val="0.18755449966563914"/>
          <c:y val="6.9387551809989281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Sum of revenue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025-47BB-AE3E-0895B36F719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025-47BB-AE3E-0895B36F719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025-47BB-AE3E-0895B36F719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025-47BB-AE3E-0895B36F719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3025-47BB-AE3E-0895B36F719D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3025-47BB-AE3E-0895B36F719D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3025-47BB-AE3E-0895B36F719D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3025-47BB-AE3E-0895B36F719D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3025-47BB-AE3E-0895B36F719D}"/>
              </c:ext>
            </c:extLst>
          </c:dPt>
          <c:cat>
            <c:strRef>
              <c:f>Sheet1!$A$2:$A$10</c:f>
              <c:strCache>
                <c:ptCount val="9"/>
                <c:pt idx="0">
                  <c:v>Packaged Chocolate</c:v>
                </c:pt>
                <c:pt idx="1">
                  <c:v>Flavours</c:v>
                </c:pt>
                <c:pt idx="2">
                  <c:v>Loose Tea</c:v>
                </c:pt>
                <c:pt idx="3">
                  <c:v>Branded</c:v>
                </c:pt>
                <c:pt idx="4">
                  <c:v>Coffee beans</c:v>
                </c:pt>
                <c:pt idx="5">
                  <c:v>Drinking Chocolate</c:v>
                </c:pt>
                <c:pt idx="6">
                  <c:v>Bakery</c:v>
                </c:pt>
                <c:pt idx="7">
                  <c:v>Tea</c:v>
                </c:pt>
                <c:pt idx="8">
                  <c:v>Coffee</c:v>
                </c:pt>
              </c:strCache>
            </c:strRef>
          </c:cat>
          <c:val>
            <c:numRef>
              <c:f>Sheet1!$B$2:$B$10</c:f>
              <c:numCache>
                <c:formatCode>0.00%</c:formatCode>
                <c:ptCount val="9"/>
                <c:pt idx="0">
                  <c:v>6.307330038094491E-3</c:v>
                </c:pt>
                <c:pt idx="1">
                  <c:v>1.2032987454586719E-2</c:v>
                </c:pt>
                <c:pt idx="2">
                  <c:v>1.6046654471594125E-2</c:v>
                </c:pt>
                <c:pt idx="3">
                  <c:v>1.9471608350126589E-2</c:v>
                </c:pt>
                <c:pt idx="4">
                  <c:v>5.7361967268090806E-2</c:v>
                </c:pt>
                <c:pt idx="5">
                  <c:v>0.10362724996566232</c:v>
                </c:pt>
                <c:pt idx="6">
                  <c:v>0.1177936285125314</c:v>
                </c:pt>
                <c:pt idx="7">
                  <c:v>0.28105678959614433</c:v>
                </c:pt>
                <c:pt idx="8">
                  <c:v>0.38630178434316914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8E-456B-89F2-343FCAE191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1797818967319349"/>
          <c:y val="0.24639980243476209"/>
          <c:w val="0.23428532819915202"/>
          <c:h val="0.6091379698976858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 Analysis.xlsx]Revenue By Day or Time Analysis!PivotTable29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 dirty="0"/>
              <a:t>Transaction Classification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'Revenue By Day or Time Analysis'!$B$106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0BA-4088-B5BC-E9B28C967D5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0BA-4088-B5BC-E9B28C967D5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0BA-4088-B5BC-E9B28C967D57}"/>
              </c:ext>
            </c:extLst>
          </c:dPt>
          <c:cat>
            <c:strRef>
              <c:f>'Revenue By Day or Time Analysis'!$A$107:$A$110</c:f>
              <c:strCache>
                <c:ptCount val="3"/>
                <c:pt idx="0">
                  <c:v>01. Low Spend</c:v>
                </c:pt>
                <c:pt idx="1">
                  <c:v>02. Med Spend</c:v>
                </c:pt>
                <c:pt idx="2">
                  <c:v>03. High Spend</c:v>
                </c:pt>
              </c:strCache>
            </c:strRef>
          </c:cat>
          <c:val>
            <c:numRef>
              <c:f>'Revenue By Day or Time Analysis'!$B$107:$B$110</c:f>
              <c:numCache>
                <c:formatCode>General</c:formatCode>
                <c:ptCount val="3"/>
                <c:pt idx="0">
                  <c:v>694884.32999992929</c:v>
                </c:pt>
                <c:pt idx="1">
                  <c:v>328</c:v>
                </c:pt>
                <c:pt idx="2">
                  <c:v>3600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0BA-4088-B5BC-E9B28C967D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421010-3731-422F-8CF1-CD47B2D7C9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656080-143A-4905-932A-5C7754887A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920ABC-E11D-42B4-A428-76B2C5BC0052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9276-DB8D-43B4-8029-4A695209B9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8278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3EED04-A4F0-49ED-B42E-211B56474E8D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220CB7-DCA5-4E5B-97F1-300CDD8D2A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183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220CB7-DCA5-4E5B-97F1-300CDD8D2AA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483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220CB7-DCA5-4E5B-97F1-300CDD8D2AA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7884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220CB7-DCA5-4E5B-97F1-300CDD8D2AA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370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accent1">
              <a:lumMod val="10000"/>
            </a:schemeClr>
          </a:solidFill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48351"/>
            <a:ext cx="10515600" cy="762338"/>
          </a:xfrm>
        </p:spPr>
        <p:txBody>
          <a:bodyPr>
            <a:normAutofit/>
          </a:bodyPr>
          <a:lstStyle>
            <a:lvl1pPr algn="ctr">
              <a:defRPr sz="1800" b="1" cap="all" spc="600" normalizeH="0" baseline="0">
                <a:solidFill>
                  <a:schemeClr val="accent3">
                    <a:lumMod val="10000"/>
                    <a:lumOff val="9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30BD47C-1743-A31A-6F2A-BEBB24F22AB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81500" y="1500330"/>
            <a:ext cx="3429000" cy="3255264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583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93784" y="1017127"/>
            <a:ext cx="3259239" cy="638050"/>
          </a:xfrm>
        </p:spPr>
        <p:txBody>
          <a:bodyPr tIns="0" bIns="0" anchor="b">
            <a:normAutofit/>
          </a:bodyPr>
          <a:lstStyle>
            <a:lvl1pPr algn="l">
              <a:lnSpc>
                <a:spcPct val="70000"/>
              </a:lnSpc>
              <a:defRPr sz="36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1C420D7-C2DD-AA2E-0967-246BCAC712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93784" y="1667337"/>
            <a:ext cx="3259138" cy="1635155"/>
          </a:xfrm>
        </p:spPr>
        <p:txBody>
          <a:bodyPr tIns="0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5400" b="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Here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26643" y="-1"/>
            <a:ext cx="6146157" cy="3452149"/>
          </a:xfrm>
          <a:noFill/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CCA433-95E2-FC02-373D-296793B74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59533" y="1"/>
            <a:ext cx="1232467" cy="34521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734D26-5CDD-1D72-F4F5-4E8F2E8A7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52149"/>
            <a:ext cx="1232467" cy="340585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30BD47C-1743-A31A-6F2A-BEBB24F22AB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96049" y="3452149"/>
            <a:ext cx="6146157" cy="3423213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38165" y="3831219"/>
            <a:ext cx="2719830" cy="2638706"/>
          </a:xfrm>
        </p:spPr>
        <p:txBody>
          <a:bodyPr anchor="ctr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73133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-1"/>
            <a:ext cx="12191999" cy="1649977"/>
          </a:xfrm>
          <a:noFill/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012" y="482812"/>
            <a:ext cx="9002215" cy="638050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1" cap="all" spc="0" normalizeH="0" baseline="0">
                <a:solidFill>
                  <a:schemeClr val="accent3">
                    <a:lumMod val="10000"/>
                    <a:lumOff val="9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3E7ECCC-BD1E-CBCA-E8C4-9C7A044050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012" y="2494034"/>
            <a:ext cx="1849061" cy="642687"/>
          </a:xfrm>
          <a:solidFill>
            <a:schemeClr val="accent1"/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 b="1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012" y="3151488"/>
            <a:ext cx="1849061" cy="1076446"/>
          </a:xfrm>
          <a:solidFill>
            <a:schemeClr val="accent1">
              <a:alpha val="25000"/>
            </a:schemeClr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BFEE9A33-86BC-1ACB-FD12-3D125D7AC6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67529" y="2494034"/>
            <a:ext cx="1849061" cy="642687"/>
          </a:xfrm>
          <a:solidFill>
            <a:schemeClr val="accent1"/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 b="1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79A1158-8509-9A92-5B8F-B87303ABC5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67529" y="3151488"/>
            <a:ext cx="1849061" cy="1076446"/>
          </a:xfrm>
          <a:solidFill>
            <a:schemeClr val="accent1">
              <a:alpha val="25000"/>
            </a:schemeClr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4C8324F-73B9-5F50-2F8B-86B0683A48C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046" y="2494034"/>
            <a:ext cx="1849061" cy="642687"/>
          </a:xfrm>
          <a:solidFill>
            <a:schemeClr val="accent1"/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 b="1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64B4E6B-794C-37E8-8DD5-B039832950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83046" y="3151488"/>
            <a:ext cx="1849061" cy="1076446"/>
          </a:xfrm>
          <a:solidFill>
            <a:schemeClr val="accent1">
              <a:alpha val="25000"/>
            </a:schemeClr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0371E6D-BAFA-5426-4D03-3E4D6EA4E03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98563" y="2494034"/>
            <a:ext cx="1849061" cy="642687"/>
          </a:xfrm>
          <a:solidFill>
            <a:schemeClr val="accent1"/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 b="1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B8342D6-37CA-33AA-29B9-2FEB001504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8563" y="3151488"/>
            <a:ext cx="1849061" cy="1076446"/>
          </a:xfrm>
          <a:solidFill>
            <a:schemeClr val="accent1">
              <a:alpha val="25000"/>
            </a:schemeClr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ED35E594-AF24-811C-7ECB-E0BC86C3A3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14079" y="2494034"/>
            <a:ext cx="1849061" cy="642687"/>
          </a:xfrm>
          <a:solidFill>
            <a:schemeClr val="accent1"/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 b="1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BDADD4CA-04B2-8363-1058-E2EEB4A1BB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14079" y="3151488"/>
            <a:ext cx="1849061" cy="1076446"/>
          </a:xfrm>
          <a:solidFill>
            <a:schemeClr val="accent1">
              <a:alpha val="25000"/>
            </a:schemeClr>
          </a:solidFill>
        </p:spPr>
        <p:txBody>
          <a:bodyPr lIns="182880" tIns="0" rIns="18288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FED80DC6-E45B-98F5-D668-F7E0728080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33104" y="4942244"/>
            <a:ext cx="3345083" cy="642687"/>
          </a:xfrm>
          <a:solidFill>
            <a:schemeClr val="accent1"/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400" b="1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748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012" y="482812"/>
            <a:ext cx="9002215" cy="638050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706FB3F8-975F-CDE6-AD5A-41A6C4AEFA0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011" y="1204943"/>
            <a:ext cx="10252763" cy="356556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24" name="Chart Placeholder 23">
            <a:extLst>
              <a:ext uri="{FF2B5EF4-FFF2-40B4-BE49-F238E27FC236}">
                <a16:creationId xmlns:a16="http://schemas.microsoft.com/office/drawing/2014/main" id="{70E058DD-8D94-446E-787F-5F2A17EA2196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838306" y="1701800"/>
            <a:ext cx="1700784" cy="153619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3E7ECCC-BD1E-CBCA-E8C4-9C7A044050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24504" y="2139357"/>
            <a:ext cx="928389" cy="642687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4168" y="3174638"/>
            <a:ext cx="1849061" cy="459076"/>
          </a:xfrm>
          <a:noFill/>
        </p:spPr>
        <p:txBody>
          <a:bodyPr lIns="91440" tIns="9144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8" name="Chart Placeholder 23">
            <a:extLst>
              <a:ext uri="{FF2B5EF4-FFF2-40B4-BE49-F238E27FC236}">
                <a16:creationId xmlns:a16="http://schemas.microsoft.com/office/drawing/2014/main" id="{EAFEEDA8-9219-BD40-C230-E92998E15A23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3025009" y="1701800"/>
            <a:ext cx="1700784" cy="153619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920430E8-C9E5-7571-B3E8-A14938C6E4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5617" y="2139357"/>
            <a:ext cx="928389" cy="642687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79A1158-8509-9A92-5B8F-B87303ABC5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55280" y="3174638"/>
            <a:ext cx="1849061" cy="459076"/>
          </a:xfrm>
          <a:noFill/>
        </p:spPr>
        <p:txBody>
          <a:bodyPr lIns="91440" tIns="9144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Chart Placeholder 23">
            <a:extLst>
              <a:ext uri="{FF2B5EF4-FFF2-40B4-BE49-F238E27FC236}">
                <a16:creationId xmlns:a16="http://schemas.microsoft.com/office/drawing/2014/main" id="{9C9FDEE4-E778-B309-F78A-B097A62D3B10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5216862" y="1701800"/>
            <a:ext cx="1700784" cy="153619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20D3608-9448-F8A1-E942-E798931A98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606729" y="2139357"/>
            <a:ext cx="928389" cy="642687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64B4E6B-794C-37E8-8DD5-B039832950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46392" y="3174638"/>
            <a:ext cx="1849061" cy="459076"/>
          </a:xfrm>
          <a:noFill/>
        </p:spPr>
        <p:txBody>
          <a:bodyPr lIns="91440" tIns="9144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0" name="Chart Placeholder 23">
            <a:extLst>
              <a:ext uri="{FF2B5EF4-FFF2-40B4-BE49-F238E27FC236}">
                <a16:creationId xmlns:a16="http://schemas.microsoft.com/office/drawing/2014/main" id="{4B5D9EAC-E1E4-971C-4DCF-F4BA495E30D6}"/>
              </a:ext>
            </a:extLst>
          </p:cNvPr>
          <p:cNvSpPr>
            <a:spLocks noGrp="1"/>
          </p:cNvSpPr>
          <p:nvPr>
            <p:ph type="chart" sz="quarter" idx="28"/>
          </p:nvPr>
        </p:nvSpPr>
        <p:spPr>
          <a:xfrm>
            <a:off x="7403565" y="1701800"/>
            <a:ext cx="1700784" cy="153619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052DFEB-4583-7D49-EB81-F63A70289A6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97841" y="2139357"/>
            <a:ext cx="928389" cy="642687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B8342D6-37CA-33AA-29B9-2FEB001504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37504" y="3174638"/>
            <a:ext cx="1849061" cy="459076"/>
          </a:xfrm>
          <a:noFill/>
        </p:spPr>
        <p:txBody>
          <a:bodyPr lIns="91440" tIns="9144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1" name="Chart Placeholder 23">
            <a:extLst>
              <a:ext uri="{FF2B5EF4-FFF2-40B4-BE49-F238E27FC236}">
                <a16:creationId xmlns:a16="http://schemas.microsoft.com/office/drawing/2014/main" id="{8D104B7B-2C5C-79FE-3E90-69E9EE2BD36B}"/>
              </a:ext>
            </a:extLst>
          </p:cNvPr>
          <p:cNvSpPr>
            <a:spLocks noGrp="1"/>
          </p:cNvSpPr>
          <p:nvPr>
            <p:ph type="chart" sz="quarter" idx="29"/>
          </p:nvPr>
        </p:nvSpPr>
        <p:spPr>
          <a:xfrm>
            <a:off x="9602753" y="1692604"/>
            <a:ext cx="1700784" cy="153619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0F91EA5-D9F1-14B5-2383-469320ED893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988952" y="2139357"/>
            <a:ext cx="928389" cy="642687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BDADD4CA-04B2-8363-1058-E2EEB4A1BB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8615" y="3174638"/>
            <a:ext cx="1849061" cy="459076"/>
          </a:xfrm>
          <a:noFill/>
        </p:spPr>
        <p:txBody>
          <a:bodyPr lIns="91440" tIns="9144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able Placeholder 25">
            <a:extLst>
              <a:ext uri="{FF2B5EF4-FFF2-40B4-BE49-F238E27FC236}">
                <a16:creationId xmlns:a16="http://schemas.microsoft.com/office/drawing/2014/main" id="{02AD8594-3E96-3F20-90D7-01C001D40C26}"/>
              </a:ext>
            </a:extLst>
          </p:cNvPr>
          <p:cNvSpPr>
            <a:spLocks noGrp="1"/>
          </p:cNvSpPr>
          <p:nvPr>
            <p:ph type="tbl" sz="quarter" idx="24"/>
          </p:nvPr>
        </p:nvSpPr>
        <p:spPr>
          <a:xfrm>
            <a:off x="1018570" y="3865563"/>
            <a:ext cx="10186205" cy="224631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635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 Points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5188" y="1806487"/>
            <a:ext cx="4932625" cy="638050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2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C26F2423-DF97-D100-BE6D-29D9EE15BA9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9613" y="2821450"/>
            <a:ext cx="484632" cy="48463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51312" y="2809756"/>
            <a:ext cx="4286501" cy="538223"/>
          </a:xfrm>
          <a:noFill/>
        </p:spPr>
        <p:txBody>
          <a:bodyPr lIns="91440" tIns="0" rIns="9144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768E93BF-5DA7-33DE-7DBC-0C6057C3B37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039613" y="3437926"/>
            <a:ext cx="484632" cy="48463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EBD26BC-C603-AEA2-3415-24A8A100591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51312" y="3418079"/>
            <a:ext cx="4286501" cy="538223"/>
          </a:xfrm>
          <a:noFill/>
        </p:spPr>
        <p:txBody>
          <a:bodyPr lIns="91440" tIns="0" rIns="9144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AFC2E8B1-029D-44E0-1893-3916B100601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39613" y="4054403"/>
            <a:ext cx="484632" cy="48463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9ACA4C2-F939-8D8C-98EF-A61C8B760F9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51312" y="4026402"/>
            <a:ext cx="4286501" cy="538223"/>
          </a:xfrm>
          <a:noFill/>
        </p:spPr>
        <p:txBody>
          <a:bodyPr lIns="91440" tIns="0" rIns="9144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-1"/>
            <a:ext cx="6096000" cy="5243333"/>
          </a:xfrm>
          <a:noFill/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C313E4-419C-20BB-FD0F-C62890266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5243332"/>
            <a:ext cx="6095999" cy="16378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617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4328" y="309448"/>
            <a:ext cx="3231145" cy="484632"/>
          </a:xfrm>
        </p:spPr>
        <p:txBody>
          <a:bodyPr tIns="0" bIns="0" anchor="b">
            <a:normAutofit/>
          </a:bodyPr>
          <a:lstStyle>
            <a:lvl1pPr algn="l">
              <a:lnSpc>
                <a:spcPct val="100000"/>
              </a:lnSpc>
              <a:defRPr sz="1800" b="1" cap="none" spc="0" normalizeH="0" baseline="0">
                <a:solidFill>
                  <a:schemeClr val="accent1">
                    <a:lumMod val="1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4329" y="883387"/>
            <a:ext cx="3227060" cy="2199311"/>
          </a:xfrm>
          <a:noFill/>
        </p:spPr>
        <p:txBody>
          <a:bodyPr lIns="91440" tIns="91440" rIns="91440" bIns="0" anchor="t">
            <a:normAutofit/>
          </a:bodyPr>
          <a:lstStyle>
            <a:lvl1pPr marL="285750" indent="-28575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Clr>
                <a:schemeClr val="accent2"/>
              </a:buClr>
              <a:buSzPct val="100000"/>
              <a:buFont typeface="Courier New" panose="02070309020205020404" pitchFamily="49" charset="0"/>
              <a:buChar char="o"/>
              <a:defRPr lang="en-US" sz="1200" dirty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43081" y="-11683"/>
            <a:ext cx="4114801" cy="3439923"/>
          </a:xfrm>
          <a:solidFill>
            <a:schemeClr val="tx2"/>
          </a:solidFill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E71414F8-DD91-4BEB-BD17-D9C191E066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651175" y="245774"/>
            <a:ext cx="3072064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10000"/>
                  </a:schemeClr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DA3D7EC-7E91-837C-0F5C-2FA02822C21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651174" y="906920"/>
            <a:ext cx="3056497" cy="2199311"/>
          </a:xfrm>
          <a:noFill/>
        </p:spPr>
        <p:txBody>
          <a:bodyPr lIns="91440" tIns="91440" rIns="91440" bIns="0" anchor="t">
            <a:normAutofit/>
          </a:bodyPr>
          <a:lstStyle>
            <a:lvl1pPr marL="285750" indent="-28575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Clr>
                <a:schemeClr val="accent2"/>
              </a:buClr>
              <a:buSzPct val="100000"/>
              <a:buFont typeface="Courier New" panose="02070309020205020404" pitchFamily="49" charset="0"/>
              <a:buChar char="o"/>
              <a:defRPr lang="en-US" sz="1200" dirty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E403EF5D-5D5E-DB9C-1AA6-6C838DA9DC1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-22804" y="3428237"/>
            <a:ext cx="4065886" cy="3439923"/>
          </a:xfrm>
          <a:solidFill>
            <a:schemeClr val="tx2"/>
          </a:solidFill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E66A002-611A-AC3C-3354-FC6A8B8807F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38700" y="3730892"/>
            <a:ext cx="3239314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10000"/>
                  </a:schemeClr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25D8040-D0AA-C720-C6C4-6B23368CD03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38700" y="4417990"/>
            <a:ext cx="3227060" cy="2199311"/>
          </a:xfrm>
          <a:noFill/>
        </p:spPr>
        <p:txBody>
          <a:bodyPr lIns="91440" tIns="91440" rIns="91440" bIns="0" anchor="t">
            <a:normAutofit/>
          </a:bodyPr>
          <a:lstStyle>
            <a:lvl1pPr marL="285750" indent="-28575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Clr>
                <a:schemeClr val="accent2"/>
              </a:buClr>
              <a:buSzPct val="100000"/>
              <a:buFont typeface="Courier New" panose="02070309020205020404" pitchFamily="49" charset="0"/>
              <a:buChar char="o"/>
              <a:defRPr lang="en-US" sz="1200" dirty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C2DD639C-33DD-1ACB-4F21-BE087163AE1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8168042" y="3428237"/>
            <a:ext cx="4034118" cy="3439923"/>
          </a:xfrm>
          <a:solidFill>
            <a:schemeClr val="tx2"/>
          </a:solidFill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752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012" y="482812"/>
            <a:ext cx="10284948" cy="638050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6" name="Table Placeholder 25">
            <a:extLst>
              <a:ext uri="{FF2B5EF4-FFF2-40B4-BE49-F238E27FC236}">
                <a16:creationId xmlns:a16="http://schemas.microsoft.com/office/drawing/2014/main" id="{02AD8594-3E96-3F20-90D7-01C001D40C26}"/>
              </a:ext>
            </a:extLst>
          </p:cNvPr>
          <p:cNvSpPr>
            <a:spLocks noGrp="1"/>
          </p:cNvSpPr>
          <p:nvPr>
            <p:ph type="tbl" sz="quarter" idx="24"/>
          </p:nvPr>
        </p:nvSpPr>
        <p:spPr>
          <a:xfrm>
            <a:off x="1068507" y="1466591"/>
            <a:ext cx="10054988" cy="118516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4" name="Chart Placeholder 23">
            <a:extLst>
              <a:ext uri="{FF2B5EF4-FFF2-40B4-BE49-F238E27FC236}">
                <a16:creationId xmlns:a16="http://schemas.microsoft.com/office/drawing/2014/main" id="{70E058DD-8D94-446E-787F-5F2A17EA2196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1068504" y="3109249"/>
            <a:ext cx="10054990" cy="2907792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accent1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587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012" y="482812"/>
            <a:ext cx="10315428" cy="638050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6" name="Table Placeholder 25">
            <a:extLst>
              <a:ext uri="{FF2B5EF4-FFF2-40B4-BE49-F238E27FC236}">
                <a16:creationId xmlns:a16="http://schemas.microsoft.com/office/drawing/2014/main" id="{02AD8594-3E96-3F20-90D7-01C001D40C26}"/>
              </a:ext>
            </a:extLst>
          </p:cNvPr>
          <p:cNvSpPr>
            <a:spLocks noGrp="1"/>
          </p:cNvSpPr>
          <p:nvPr>
            <p:ph type="tbl" sz="quarter" idx="24"/>
          </p:nvPr>
        </p:nvSpPr>
        <p:spPr>
          <a:xfrm>
            <a:off x="1058347" y="1446271"/>
            <a:ext cx="10049920" cy="435453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A52954E-7826-2F3E-37FB-F67D5971E4E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142740" y="237807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3D09183F-8234-58F5-2CE4-5D000BF72EA1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447475" y="237807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0E530913-6A7A-CB72-87E9-5D3ADD650B01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752210" y="237807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17">
            <a:extLst>
              <a:ext uri="{FF2B5EF4-FFF2-40B4-BE49-F238E27FC236}">
                <a16:creationId xmlns:a16="http://schemas.microsoft.com/office/drawing/2014/main" id="{548FF31E-A9C5-CFCF-43B0-5EF275D7402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056945" y="237807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17">
            <a:extLst>
              <a:ext uri="{FF2B5EF4-FFF2-40B4-BE49-F238E27FC236}">
                <a16:creationId xmlns:a16="http://schemas.microsoft.com/office/drawing/2014/main" id="{900F4E96-BF95-1386-47A4-D14CEB09D8E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361679" y="237807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17">
            <a:extLst>
              <a:ext uri="{FF2B5EF4-FFF2-40B4-BE49-F238E27FC236}">
                <a16:creationId xmlns:a16="http://schemas.microsoft.com/office/drawing/2014/main" id="{E91EF67B-B01F-400D-2DC2-79A748E2A60E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5353930" y="3093396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17">
            <a:extLst>
              <a:ext uri="{FF2B5EF4-FFF2-40B4-BE49-F238E27FC236}">
                <a16:creationId xmlns:a16="http://schemas.microsoft.com/office/drawing/2014/main" id="{B320C6BD-6887-1B30-627B-0AB6029E8F5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658665" y="3093396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17">
            <a:extLst>
              <a:ext uri="{FF2B5EF4-FFF2-40B4-BE49-F238E27FC236}">
                <a16:creationId xmlns:a16="http://schemas.microsoft.com/office/drawing/2014/main" id="{9B504DC8-6E54-98FA-2461-72B7340F5861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963400" y="3093396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17">
            <a:extLst>
              <a:ext uri="{FF2B5EF4-FFF2-40B4-BE49-F238E27FC236}">
                <a16:creationId xmlns:a16="http://schemas.microsoft.com/office/drawing/2014/main" id="{0C21A6A4-EB4D-A0D0-56D0-93FB0E749A1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055073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17">
            <a:extLst>
              <a:ext uri="{FF2B5EF4-FFF2-40B4-BE49-F238E27FC236}">
                <a16:creationId xmlns:a16="http://schemas.microsoft.com/office/drawing/2014/main" id="{DB72A218-DAC1-2261-C0A3-B0767FD2FA07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359808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17">
            <a:extLst>
              <a:ext uri="{FF2B5EF4-FFF2-40B4-BE49-F238E27FC236}">
                <a16:creationId xmlns:a16="http://schemas.microsoft.com/office/drawing/2014/main" id="{C3CF0080-9BDB-00BA-29B2-9174EE3C4113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664543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17">
            <a:extLst>
              <a:ext uri="{FF2B5EF4-FFF2-40B4-BE49-F238E27FC236}">
                <a16:creationId xmlns:a16="http://schemas.microsoft.com/office/drawing/2014/main" id="{C6A1C08D-7BF4-5FAF-C2FF-AE5047518A06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969278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17">
            <a:extLst>
              <a:ext uri="{FF2B5EF4-FFF2-40B4-BE49-F238E27FC236}">
                <a16:creationId xmlns:a16="http://schemas.microsoft.com/office/drawing/2014/main" id="{BA44657A-8B86-EA70-6560-03FEB781F9E5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274012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17">
            <a:extLst>
              <a:ext uri="{FF2B5EF4-FFF2-40B4-BE49-F238E27FC236}">
                <a16:creationId xmlns:a16="http://schemas.microsoft.com/office/drawing/2014/main" id="{8CED7DAF-DABA-4DFF-4526-79601E7E4521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578746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Picture Placeholder 17">
            <a:extLst>
              <a:ext uri="{FF2B5EF4-FFF2-40B4-BE49-F238E27FC236}">
                <a16:creationId xmlns:a16="http://schemas.microsoft.com/office/drawing/2014/main" id="{DE375DAB-B8B1-7BFE-421A-2576642D0DB4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7883481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Picture Placeholder 17">
            <a:extLst>
              <a:ext uri="{FF2B5EF4-FFF2-40B4-BE49-F238E27FC236}">
                <a16:creationId xmlns:a16="http://schemas.microsoft.com/office/drawing/2014/main" id="{1DC92198-D94C-7632-19D2-3D84CBD1BCB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188215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17">
            <a:extLst>
              <a:ext uri="{FF2B5EF4-FFF2-40B4-BE49-F238E27FC236}">
                <a16:creationId xmlns:a16="http://schemas.microsoft.com/office/drawing/2014/main" id="{ADE4906C-8781-3D55-6709-40134F528A75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8540305" y="4547853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9" name="Picture Placeholder 17">
            <a:extLst>
              <a:ext uri="{FF2B5EF4-FFF2-40B4-BE49-F238E27FC236}">
                <a16:creationId xmlns:a16="http://schemas.microsoft.com/office/drawing/2014/main" id="{5A09A8A3-44A8-3DBC-2A4E-C534BD043946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055262" y="5269391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17">
            <a:extLst>
              <a:ext uri="{FF2B5EF4-FFF2-40B4-BE49-F238E27FC236}">
                <a16:creationId xmlns:a16="http://schemas.microsoft.com/office/drawing/2014/main" id="{AF3FD113-A1D1-4EEF-7A6A-8D911FEFCA39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359997" y="5269391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17">
            <a:extLst>
              <a:ext uri="{FF2B5EF4-FFF2-40B4-BE49-F238E27FC236}">
                <a16:creationId xmlns:a16="http://schemas.microsoft.com/office/drawing/2014/main" id="{DBF1041A-E533-7269-1C16-B8F07C39D0A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9664732" y="5269391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17">
            <a:extLst>
              <a:ext uri="{FF2B5EF4-FFF2-40B4-BE49-F238E27FC236}">
                <a16:creationId xmlns:a16="http://schemas.microsoft.com/office/drawing/2014/main" id="{723620E9-23D5-45A7-B061-9B5BA0AB817B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9969467" y="5269391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104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5857" y="2705755"/>
            <a:ext cx="3561986" cy="1446491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A56CA8-AE7D-1692-CD03-8052B79B4C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71721" y="-16358"/>
            <a:ext cx="7354442" cy="6890715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C313E4-419C-20BB-FD0F-C62890266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71721" y="-6197"/>
            <a:ext cx="782319" cy="2270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54040" y="-10160"/>
            <a:ext cx="3086262" cy="227076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366191" y="526575"/>
            <a:ext cx="2170649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 cap="all" baseline="0">
                <a:solidFill>
                  <a:schemeClr val="accent1">
                    <a:lumMod val="10000"/>
                  </a:schemeClr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1D2E0A3-3A4D-815C-8C07-8058D5694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641558" y="1101504"/>
            <a:ext cx="161991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1B5590F9-2D9B-7EF7-DD7B-0088DB0B18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66191" y="1138210"/>
            <a:ext cx="2170649" cy="538223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 cap="none" baseline="0">
                <a:solidFill>
                  <a:schemeClr val="accent1">
                    <a:lumMod val="25000"/>
                  </a:schemeClr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13E55D8-560B-DF34-B34D-E3A21C43BB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19328" y="2831055"/>
            <a:ext cx="2170649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 cap="all" baseline="0">
                <a:solidFill>
                  <a:schemeClr val="accent1">
                    <a:lumMod val="10000"/>
                  </a:schemeClr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6A5A1F2-505F-747B-818F-CBE5074E2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794695" y="3405984"/>
            <a:ext cx="161991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063E3D4-FEB7-9BB5-B22D-843990911CE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19328" y="3442690"/>
            <a:ext cx="2170649" cy="538223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 cap="none" baseline="0">
                <a:solidFill>
                  <a:schemeClr val="accent1">
                    <a:lumMod val="25000"/>
                  </a:schemeClr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4E713C15-6491-75F6-6A03-ECBBB25972B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17560" y="2259981"/>
            <a:ext cx="3042920" cy="233742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100ACF-978B-E5F8-58B9-878278B3D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60480" y="2270140"/>
            <a:ext cx="727584" cy="23368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8A96B4-52C5-47DA-6BD6-050647AEB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76961" y="4599322"/>
            <a:ext cx="777079" cy="2270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D66AD3C9-51DF-968B-BDFA-A072D79E698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54040" y="4596782"/>
            <a:ext cx="3076102" cy="227076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26BE9D1C-5464-1BB4-DD8F-40B27F9E7E7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57280" y="5261360"/>
            <a:ext cx="2170649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 cap="all" baseline="0">
                <a:solidFill>
                  <a:schemeClr val="accent1">
                    <a:lumMod val="10000"/>
                  </a:schemeClr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E8A1D00-787E-E601-743F-F3A607B90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32647" y="5836289"/>
            <a:ext cx="1619915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4F9E3A6-F6B7-CCAC-D810-CD47EB1C5D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457280" y="5872995"/>
            <a:ext cx="2170649" cy="538223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 cap="none" baseline="0">
                <a:solidFill>
                  <a:schemeClr val="accent1">
                    <a:lumMod val="25000"/>
                  </a:schemeClr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120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012" y="482812"/>
            <a:ext cx="10295108" cy="638050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885A36-9B2E-CD52-C188-43035C62D7D2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1022350" y="1584960"/>
            <a:ext cx="10146806" cy="4429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839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 Points 2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908" y="368658"/>
            <a:ext cx="6228732" cy="830221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0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3906" y="1430936"/>
            <a:ext cx="6228732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B2619741-BE88-A22C-6A3B-780557621AD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3906" y="2029538"/>
            <a:ext cx="6228732" cy="1090763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EBD26BC-C603-AEA2-3415-24A8A100591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3906" y="3218958"/>
            <a:ext cx="6228732" cy="344009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49F0960D-533E-D280-6096-A2F8BAC7AE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3906" y="3640657"/>
            <a:ext cx="6228732" cy="344009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9ACA4C2-F939-8D8C-98EF-A61C8B760F9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3906" y="4073211"/>
            <a:ext cx="6228732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1BF306D-A7D8-5086-F014-05405FA67D6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3906" y="4675595"/>
            <a:ext cx="6228732" cy="1154882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36560" y="-1"/>
            <a:ext cx="4155440" cy="5243333"/>
          </a:xfrm>
          <a:noFill/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C313E4-419C-20BB-FD0F-C62890266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36559" y="5243332"/>
            <a:ext cx="4155440" cy="16378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2">
              <a:lumMod val="10000"/>
            </a:schemeClr>
          </a:solidFill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67222" y="2247391"/>
            <a:ext cx="4434840" cy="762338"/>
          </a:xfrm>
          <a:noFill/>
        </p:spPr>
        <p:txBody>
          <a:bodyPr>
            <a:normAutofit/>
          </a:bodyPr>
          <a:lstStyle>
            <a:lvl1pPr algn="l">
              <a:defRPr sz="4800" b="1" cap="all" spc="0" normalizeH="0" baseline="0">
                <a:solidFill>
                  <a:schemeClr val="accent3">
                    <a:lumMod val="10000"/>
                    <a:lumOff val="9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Add title 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30BD47C-1743-A31A-6F2A-BEBB24F22AB3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516380" y="1730247"/>
            <a:ext cx="3657600" cy="3472282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5810CE0D-B662-5180-72B1-8363C2E1BDE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67222" y="3258237"/>
            <a:ext cx="4434840" cy="368884"/>
          </a:xfrm>
          <a:noFill/>
        </p:spPr>
        <p:txBody>
          <a:bodyPr lIns="91440" tIns="0" rIns="9144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 cap="all" baseline="0">
                <a:solidFill>
                  <a:schemeClr val="accent3">
                    <a:lumMod val="10000"/>
                    <a:lumOff val="90000"/>
                  </a:schemeClr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92BFD6-74C7-2D2A-4F93-95F4341BAB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67222" y="3748147"/>
            <a:ext cx="4434840" cy="1454381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400" b="1" cap="none" baseline="0">
                <a:solidFill>
                  <a:schemeClr val="accent3">
                    <a:lumMod val="10000"/>
                    <a:lumOff val="90000"/>
                  </a:schemeClr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1626753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BA29B-5AE9-CB8D-8A2B-144DBB8BCB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3043" y="365125"/>
            <a:ext cx="11100126" cy="1325563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0432AB-307E-C133-AB03-5B6286B229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B1DDF95-5C6A-BFC2-3D73-E19530C8DA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099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10000"/>
            <a:lumOff val="9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952378-33F3-9133-FF97-6EFCBD42C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B6496-C09F-CF62-3B1A-8BD3AB12C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F26F1-942C-E394-D4F4-E2C72E8579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9C0C1-EE54-4EF7-BCC6-9C36988C399C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6F9A7-A5DA-8EAD-6359-9316AC522C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9CBAD-9F11-FF8A-5CB4-6C8682861D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F588F-3268-487C-BB05-403E3E2B4B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118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793" r:id="rId12"/>
    <p:sldLayoutId id="214748379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10" Type="http://schemas.openxmlformats.org/officeDocument/2006/relationships/image" Target="../media/image5.svg"/><Relationship Id="rId4" Type="http://schemas.openxmlformats.org/officeDocument/2006/relationships/chart" Target="../charts/chart2.xml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chart" Target="../charts/chart7.xml"/><Relationship Id="rId7" Type="http://schemas.openxmlformats.org/officeDocument/2006/relationships/image" Target="../media/image4.png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chart" Target="../charts/chart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jpe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image" Target="../media/image19.sv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pile of coffee beans">
            <a:extLst>
              <a:ext uri="{FF2B5EF4-FFF2-40B4-BE49-F238E27FC236}">
                <a16:creationId xmlns:a16="http://schemas.microsoft.com/office/drawing/2014/main" id="{27EDE37F-A91F-2CE5-7176-FA96308E994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76728" y="0"/>
            <a:ext cx="13047579" cy="7339263"/>
          </a:xfr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9B9E7D9B-9F62-FD23-417A-4C9F49361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4816545"/>
            <a:ext cx="10515600" cy="762338"/>
          </a:xfrm>
        </p:spPr>
        <p:txBody>
          <a:bodyPr/>
          <a:lstStyle/>
          <a:p>
            <a:r>
              <a:rPr lang="en-US" i="1" dirty="0"/>
              <a:t>Revenue Performance Insights &amp; recommendations</a:t>
            </a:r>
          </a:p>
        </p:txBody>
      </p:sp>
      <p:sp>
        <p:nvSpPr>
          <p:cNvPr id="4" name="Title 13">
            <a:extLst>
              <a:ext uri="{FF2B5EF4-FFF2-40B4-BE49-F238E27FC236}">
                <a16:creationId xmlns:a16="http://schemas.microsoft.com/office/drawing/2014/main" id="{77A804D8-26DC-4EBE-D7B6-F833B1E27BDB}"/>
              </a:ext>
            </a:extLst>
          </p:cNvPr>
          <p:cNvSpPr txBox="1">
            <a:spLocks/>
          </p:cNvSpPr>
          <p:nvPr/>
        </p:nvSpPr>
        <p:spPr>
          <a:xfrm>
            <a:off x="880973" y="1471630"/>
            <a:ext cx="10515600" cy="762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kern="1200" cap="all" spc="600" normalizeH="0" baseline="0">
                <a:solidFill>
                  <a:schemeClr val="accent3">
                    <a:lumMod val="10000"/>
                    <a:lumOff val="9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6600" dirty="0">
                <a:latin typeface="+mj-lt"/>
              </a:rPr>
              <a:t>Bright Coffee shop</a:t>
            </a:r>
          </a:p>
        </p:txBody>
      </p:sp>
      <p:sp>
        <p:nvSpPr>
          <p:cNvPr id="5" name="Title 13">
            <a:extLst>
              <a:ext uri="{FF2B5EF4-FFF2-40B4-BE49-F238E27FC236}">
                <a16:creationId xmlns:a16="http://schemas.microsoft.com/office/drawing/2014/main" id="{5E3FBD07-B3E2-DDA2-9EFD-606498E40FF2}"/>
              </a:ext>
            </a:extLst>
          </p:cNvPr>
          <p:cNvSpPr txBox="1">
            <a:spLocks/>
          </p:cNvSpPr>
          <p:nvPr/>
        </p:nvSpPr>
        <p:spPr>
          <a:xfrm>
            <a:off x="874713" y="3144087"/>
            <a:ext cx="10515600" cy="762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kern="1200" cap="all" spc="600" normalizeH="0" baseline="0">
                <a:solidFill>
                  <a:schemeClr val="accent3">
                    <a:lumMod val="10000"/>
                    <a:lumOff val="9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ZA" sz="2400" dirty="0"/>
              <a:t>Unlocking Revenue Growth Through Demand Optimisation and Product Uptake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53AC2E-BF8E-95CB-D16A-BF37E40B9629}"/>
              </a:ext>
            </a:extLst>
          </p:cNvPr>
          <p:cNvSpPr txBox="1"/>
          <p:nvPr/>
        </p:nvSpPr>
        <p:spPr>
          <a:xfrm>
            <a:off x="4327358" y="5883441"/>
            <a:ext cx="3537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EEE7E3"/>
                </a:solidFill>
              </a:rPr>
              <a:t>REFILWE MOFOKENG</a:t>
            </a:r>
            <a:endParaRPr lang="en-ZA" dirty="0">
              <a:solidFill>
                <a:srgbClr val="EEE7E3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E4D516-5E7D-C2AB-04FF-F254187D9714}"/>
              </a:ext>
            </a:extLst>
          </p:cNvPr>
          <p:cNvSpPr txBox="1"/>
          <p:nvPr/>
        </p:nvSpPr>
        <p:spPr>
          <a:xfrm>
            <a:off x="4327358" y="6187999"/>
            <a:ext cx="3537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EEE7E3"/>
                </a:solidFill>
              </a:rPr>
              <a:t>MARCH 2026</a:t>
            </a:r>
            <a:endParaRPr lang="en-ZA" dirty="0">
              <a:solidFill>
                <a:srgbClr val="EEE7E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8848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C502D2-3299-9E3D-BBCA-A672F7F15A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22891" y="603503"/>
            <a:ext cx="4125069" cy="1635155"/>
          </a:xfrm>
        </p:spPr>
        <p:txBody>
          <a:bodyPr/>
          <a:lstStyle/>
          <a:p>
            <a:r>
              <a:rPr lang="en-US" dirty="0"/>
              <a:t>Content</a:t>
            </a:r>
          </a:p>
        </p:txBody>
      </p:sp>
      <p:pic>
        <p:nvPicPr>
          <p:cNvPr id="12" name="Picture Placeholder 11" descr="A close-up of coffee beans ">
            <a:extLst>
              <a:ext uri="{FF2B5EF4-FFF2-40B4-BE49-F238E27FC236}">
                <a16:creationId xmlns:a16="http://schemas.microsoft.com/office/drawing/2014/main" id="{70CEBD43-1E81-E53E-1EC1-408F57958B4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0863" b="-8321"/>
          <a:stretch>
            <a:fillRect/>
          </a:stretch>
        </p:blipFill>
        <p:spPr>
          <a:xfrm>
            <a:off x="494596" y="14465"/>
            <a:ext cx="3580099" cy="7413029"/>
          </a:xfrm>
        </p:spPr>
      </p:pic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3EAB8EC-D2F4-0861-F661-E81208B5C6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57520" y="7620110"/>
            <a:ext cx="5229709" cy="2638706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AutoNum type="arabicPeriod"/>
            </a:pPr>
            <a:r>
              <a:rPr lang="en-US" sz="2800" dirty="0"/>
              <a:t>Executive Summary</a:t>
            </a:r>
          </a:p>
          <a:p>
            <a:pPr marL="342900" indent="-342900">
              <a:buAutoNum type="arabicPeriod"/>
            </a:pPr>
            <a:r>
              <a:rPr lang="en-US" sz="2800" dirty="0"/>
              <a:t>Revenue Overview</a:t>
            </a:r>
          </a:p>
          <a:p>
            <a:pPr marL="342900" indent="-342900">
              <a:buAutoNum type="arabicPeriod"/>
            </a:pPr>
            <a:r>
              <a:rPr lang="en-US" sz="2800" dirty="0"/>
              <a:t>Revenue Trend Over Time</a:t>
            </a:r>
          </a:p>
          <a:p>
            <a:pPr marL="342900" indent="-342900">
              <a:buAutoNum type="arabicPeriod"/>
            </a:pPr>
            <a:r>
              <a:rPr lang="en-US" sz="2800" dirty="0"/>
              <a:t>Customer Behaviour &amp; Product Performance</a:t>
            </a:r>
          </a:p>
          <a:p>
            <a:pPr marL="342900" indent="-342900">
              <a:buAutoNum type="arabicPeriod"/>
            </a:pPr>
            <a:r>
              <a:rPr lang="en-US" sz="2800" dirty="0"/>
              <a:t>Recommendation</a:t>
            </a:r>
          </a:p>
          <a:p>
            <a:endParaRPr lang="en-US" sz="2800" dirty="0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0694A9E4-7C2D-3B5D-184D-F900803DEE4C}"/>
              </a:ext>
            </a:extLst>
          </p:cNvPr>
          <p:cNvSpPr/>
          <p:nvPr/>
        </p:nvSpPr>
        <p:spPr>
          <a:xfrm>
            <a:off x="4743207" y="1613017"/>
            <a:ext cx="4497046" cy="745957"/>
          </a:xfrm>
          <a:prstGeom prst="homePlat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BC515026-D73B-8559-4FAD-1E6810DF419B}"/>
              </a:ext>
            </a:extLst>
          </p:cNvPr>
          <p:cNvSpPr/>
          <p:nvPr/>
        </p:nvSpPr>
        <p:spPr>
          <a:xfrm>
            <a:off x="4743207" y="2502215"/>
            <a:ext cx="4497046" cy="745957"/>
          </a:xfrm>
          <a:prstGeom prst="homePlate">
            <a:avLst/>
          </a:prstGeom>
          <a:solidFill>
            <a:srgbClr val="C4957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9F05ADC1-94ED-1E88-5664-3F35F41F5A04}"/>
              </a:ext>
            </a:extLst>
          </p:cNvPr>
          <p:cNvSpPr/>
          <p:nvPr/>
        </p:nvSpPr>
        <p:spPr>
          <a:xfrm>
            <a:off x="4743207" y="3391413"/>
            <a:ext cx="4497046" cy="745957"/>
          </a:xfrm>
          <a:prstGeom prst="homePlate">
            <a:avLst/>
          </a:prstGeom>
          <a:solidFill>
            <a:srgbClr val="91623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83211004-44F2-7F5B-BFBF-09F4009518DF}"/>
              </a:ext>
            </a:extLst>
          </p:cNvPr>
          <p:cNvSpPr/>
          <p:nvPr/>
        </p:nvSpPr>
        <p:spPr>
          <a:xfrm>
            <a:off x="4743207" y="4280611"/>
            <a:ext cx="4497046" cy="745957"/>
          </a:xfrm>
          <a:prstGeom prst="homePlate">
            <a:avLst/>
          </a:prstGeom>
          <a:solidFill>
            <a:srgbClr val="853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950877D4-F083-9B95-0E25-31D34022DAFC}"/>
              </a:ext>
            </a:extLst>
          </p:cNvPr>
          <p:cNvSpPr/>
          <p:nvPr/>
        </p:nvSpPr>
        <p:spPr>
          <a:xfrm>
            <a:off x="4743207" y="5169809"/>
            <a:ext cx="4497046" cy="745957"/>
          </a:xfrm>
          <a:prstGeom prst="homePlate">
            <a:avLst/>
          </a:prstGeom>
          <a:solidFill>
            <a:srgbClr val="562F0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EC0B7E-A81E-7F45-2B12-CB2568622A0E}"/>
              </a:ext>
            </a:extLst>
          </p:cNvPr>
          <p:cNvSpPr txBox="1"/>
          <p:nvPr/>
        </p:nvSpPr>
        <p:spPr>
          <a:xfrm>
            <a:off x="4957520" y="1789058"/>
            <a:ext cx="3332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+mj-lt"/>
              </a:rPr>
              <a:t>01 EXECUTIVE SUMMARY </a:t>
            </a:r>
            <a:endParaRPr lang="en-ZA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38123F-B6EE-5594-B1FC-19E36DB05E18}"/>
              </a:ext>
            </a:extLst>
          </p:cNvPr>
          <p:cNvSpPr txBox="1"/>
          <p:nvPr/>
        </p:nvSpPr>
        <p:spPr>
          <a:xfrm>
            <a:off x="4957520" y="2689498"/>
            <a:ext cx="3332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+mj-lt"/>
              </a:rPr>
              <a:t>02 REVENUE OVERVIEW</a:t>
            </a:r>
            <a:endParaRPr lang="en-ZA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C785F9-489F-F4B5-9126-6FD54BEB0909}"/>
              </a:ext>
            </a:extLst>
          </p:cNvPr>
          <p:cNvSpPr txBox="1"/>
          <p:nvPr/>
        </p:nvSpPr>
        <p:spPr>
          <a:xfrm>
            <a:off x="4957520" y="3589938"/>
            <a:ext cx="3790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+mj-lt"/>
              </a:rPr>
              <a:t>03 REVENUE TREND OVER TIME</a:t>
            </a:r>
            <a:endParaRPr lang="en-ZA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4C2590-4A41-D725-2AD8-677DDA2C9CF7}"/>
              </a:ext>
            </a:extLst>
          </p:cNvPr>
          <p:cNvSpPr txBox="1"/>
          <p:nvPr/>
        </p:nvSpPr>
        <p:spPr>
          <a:xfrm>
            <a:off x="4957519" y="4490378"/>
            <a:ext cx="3693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+mj-lt"/>
              </a:rPr>
              <a:t>04 PRODUCT PERFORMANCE</a:t>
            </a:r>
            <a:endParaRPr lang="en-ZA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1D166F-AB86-4CE5-3B94-2E9BF169BD19}"/>
              </a:ext>
            </a:extLst>
          </p:cNvPr>
          <p:cNvSpPr txBox="1"/>
          <p:nvPr/>
        </p:nvSpPr>
        <p:spPr>
          <a:xfrm>
            <a:off x="4957520" y="5366754"/>
            <a:ext cx="3332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+mj-lt"/>
              </a:rPr>
              <a:t>05 RECOMMENDATION</a:t>
            </a:r>
            <a:endParaRPr lang="en-ZA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Slide Number Placeholder 111">
            <a:extLst>
              <a:ext uri="{FF2B5EF4-FFF2-40B4-BE49-F238E27FC236}">
                <a16:creationId xmlns:a16="http://schemas.microsoft.com/office/drawing/2014/main" id="{BAAB398F-EEE3-6AF3-F6F7-A7927C5B8BC5}"/>
              </a:ext>
            </a:extLst>
          </p:cNvPr>
          <p:cNvSpPr txBox="1">
            <a:spLocks/>
          </p:cNvSpPr>
          <p:nvPr/>
        </p:nvSpPr>
        <p:spPr>
          <a:xfrm>
            <a:off x="8899969" y="6288271"/>
            <a:ext cx="2743200" cy="36512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14F588F-3268-487C-BB05-403E3E2B4BD7}" type="slidenum">
              <a:rPr lang="en-US" sz="1200" smtClean="0">
                <a:solidFill>
                  <a:srgbClr val="562F08"/>
                </a:solidFill>
              </a:rPr>
              <a:pPr algn="r"/>
              <a:t>2</a:t>
            </a:fld>
            <a:endParaRPr lang="en-US" sz="1200" dirty="0">
              <a:solidFill>
                <a:srgbClr val="562F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258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Footer Placeholder 110">
            <a:extLst>
              <a:ext uri="{FF2B5EF4-FFF2-40B4-BE49-F238E27FC236}">
                <a16:creationId xmlns:a16="http://schemas.microsoft.com/office/drawing/2014/main" id="{080B51CA-F9BC-278D-27A5-6FB1034373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</p:spPr>
        <p:txBody>
          <a:bodyPr/>
          <a:lstStyle/>
          <a:p>
            <a:r>
              <a:rPr lang="en-US" dirty="0"/>
              <a:t>Bright Coffee Shop</a:t>
            </a:r>
          </a:p>
        </p:txBody>
      </p:sp>
      <p:sp>
        <p:nvSpPr>
          <p:cNvPr id="112" name="Slide Number Placeholder 111">
            <a:extLst>
              <a:ext uri="{FF2B5EF4-FFF2-40B4-BE49-F238E27FC236}">
                <a16:creationId xmlns:a16="http://schemas.microsoft.com/office/drawing/2014/main" id="{C2473CCA-E6BE-9F22-ABE5-4023205A1F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</p:spPr>
        <p:txBody>
          <a:bodyPr/>
          <a:lstStyle/>
          <a:p>
            <a:fld id="{914F588F-3268-487C-BB05-403E3E2B4BD7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Picture Placeholder 15" descr="A blurry picture of a brown object ">
            <a:extLst>
              <a:ext uri="{FF2B5EF4-FFF2-40B4-BE49-F238E27FC236}">
                <a16:creationId xmlns:a16="http://schemas.microsoft.com/office/drawing/2014/main" id="{4D0242F0-1B3B-89DD-AC19-DD039223CD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118463"/>
            <a:ext cx="12191999" cy="1333501"/>
          </a:xfrm>
          <a:prstGeom prst="rect">
            <a:avLst/>
          </a:prstGeom>
          <a:noFill/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4D964DC1-4883-E4D8-F6D4-9EF496D78B6F}"/>
              </a:ext>
            </a:extLst>
          </p:cNvPr>
          <p:cNvSpPr txBox="1">
            <a:spLocks/>
          </p:cNvSpPr>
          <p:nvPr/>
        </p:nvSpPr>
        <p:spPr>
          <a:xfrm>
            <a:off x="280888" y="-14158"/>
            <a:ext cx="9002215" cy="638050"/>
          </a:xfrm>
          <a:prstGeom prst="rect">
            <a:avLst/>
          </a:prstGeom>
        </p:spPr>
        <p:txBody>
          <a:bodyPr vert="horz" lIns="91440" tIns="0" rIns="9144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spc="0" normalizeH="0" baseline="0">
                <a:solidFill>
                  <a:schemeClr val="accent3">
                    <a:lumMod val="10000"/>
                    <a:lumOff val="9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Executive Summary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5982566-9AEB-7B28-7CC1-3610F0EFA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88" y="542013"/>
            <a:ext cx="11527917" cy="638050"/>
          </a:xfrm>
        </p:spPr>
        <p:txBody>
          <a:bodyPr>
            <a:normAutofit/>
          </a:bodyPr>
          <a:lstStyle/>
          <a:p>
            <a:r>
              <a:rPr lang="en-ZA" sz="1400" b="0" cap="none" dirty="0">
                <a:solidFill>
                  <a:schemeClr val="bg1"/>
                </a:solidFill>
                <a:latin typeface="+mn-lt"/>
              </a:rPr>
              <a:t>Revenue growth is strong but constrained by demand concentration and suboptimal product utilisation, creating opportunities to drive targeted product uptake and expand demand across time periods</a:t>
            </a:r>
            <a:endParaRPr lang="en-US" sz="1400" b="0" cap="none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02BB5E69-E01C-D77B-2908-3ED06FF76C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90542" y="1889692"/>
            <a:ext cx="2229090" cy="637429"/>
          </a:xfrm>
        </p:spPr>
        <p:txBody>
          <a:bodyPr>
            <a:normAutofit/>
          </a:bodyPr>
          <a:lstStyle/>
          <a:p>
            <a:r>
              <a:rPr lang="en-ZA" sz="1100" dirty="0"/>
              <a:t>Balanced Store Performance</a:t>
            </a:r>
            <a:endParaRPr lang="en-US" sz="1100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79E07D4-3A3E-F2A5-DC43-2D8B32BB90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542" y="2550694"/>
            <a:ext cx="2229090" cy="2775285"/>
          </a:xfrm>
        </p:spPr>
        <p:txBody>
          <a:bodyPr>
            <a:normAutofit/>
          </a:bodyPr>
          <a:lstStyle/>
          <a:p>
            <a:r>
              <a:rPr lang="en-US" sz="1100" dirty="0"/>
              <a:t>All stores contribute </a:t>
            </a:r>
            <a:r>
              <a:rPr lang="en-ZA" sz="1100" dirty="0"/>
              <a:t>equally (~33%), indicating consistent execution and suggesting that performance is driven by broader customer behaviour rather than location-specific factors.</a:t>
            </a:r>
            <a:endParaRPr lang="en-US" sz="1100" dirty="0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C1A33D88-C703-5415-4D17-7E440350B66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682521" y="1889692"/>
            <a:ext cx="2229090" cy="637429"/>
          </a:xfrm>
        </p:spPr>
        <p:txBody>
          <a:bodyPr>
            <a:normAutofit/>
          </a:bodyPr>
          <a:lstStyle/>
          <a:p>
            <a:r>
              <a:rPr lang="en-ZA" sz="1100" dirty="0"/>
              <a:t>Strong Revenue Growth</a:t>
            </a:r>
            <a:endParaRPr lang="en-US" sz="1100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BB509B2C-5766-B2F5-F89C-56EE65669F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82521" y="2550694"/>
            <a:ext cx="2229090" cy="2775285"/>
          </a:xfrm>
        </p:spPr>
        <p:txBody>
          <a:bodyPr>
            <a:normAutofit/>
          </a:bodyPr>
          <a:lstStyle/>
          <a:p>
            <a:r>
              <a:rPr lang="en-ZA" sz="1100" dirty="0"/>
              <a:t>Revenue has more than doubled from January to June across all stores, reflecting strong momentum, though likely influenced by seasonal demand patterns rather than structural changes.</a:t>
            </a:r>
            <a:endParaRPr lang="en-US" sz="1100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363B5295-9FCD-8C68-4188-A81FE581F0E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74500" y="1889692"/>
            <a:ext cx="2229090" cy="637429"/>
          </a:xfrm>
        </p:spPr>
        <p:txBody>
          <a:bodyPr>
            <a:normAutofit fontScale="47500" lnSpcReduction="20000"/>
          </a:bodyPr>
          <a:lstStyle/>
          <a:p>
            <a:r>
              <a:rPr lang="en-ZA" dirty="0"/>
              <a:t>Revenue Concentrated in time &amp; Product Categories</a:t>
            </a:r>
            <a:endParaRPr lang="en-US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ACA7CCAD-DA65-A451-055D-EF2C18829D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974500" y="2550694"/>
            <a:ext cx="2229090" cy="2775285"/>
          </a:xfrm>
        </p:spPr>
        <p:txBody>
          <a:bodyPr>
            <a:normAutofit/>
          </a:bodyPr>
          <a:lstStyle/>
          <a:p>
            <a:r>
              <a:rPr lang="en-ZA" sz="1100" dirty="0"/>
              <a:t>Revenue is heavily concentrated in weekday mornings, indicating dependence on commuter traffic and underutilisation of afternoons, evenings, and weekends.</a:t>
            </a:r>
          </a:p>
          <a:p>
            <a:endParaRPr lang="en-ZA" sz="1100" dirty="0"/>
          </a:p>
          <a:p>
            <a:r>
              <a:rPr lang="en-ZA" sz="1100" dirty="0"/>
              <a:t>Additionally, Coffee, tea, and bakery products dominate revenue (~78%), despite a wide and diverse product offering across multiple categories.</a:t>
            </a:r>
            <a:endParaRPr lang="en-US" sz="1100" dirty="0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31CABA58-16BF-0691-8FA7-DAB3F8B2EC0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66479" y="1889692"/>
            <a:ext cx="2229090" cy="637429"/>
          </a:xfrm>
        </p:spPr>
        <p:txBody>
          <a:bodyPr>
            <a:normAutofit fontScale="55000" lnSpcReduction="20000"/>
          </a:bodyPr>
          <a:lstStyle/>
          <a:p>
            <a:r>
              <a:rPr lang="en-ZA" dirty="0"/>
              <a:t>Underutilisation of Extensive Product Portfolio</a:t>
            </a:r>
            <a:endParaRPr lang="en-US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5A9693D6-96DC-2CBF-C0A5-74FA854E039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66479" y="2550694"/>
            <a:ext cx="2229090" cy="2775285"/>
          </a:xfrm>
        </p:spPr>
        <p:txBody>
          <a:bodyPr>
            <a:normAutofit/>
          </a:bodyPr>
          <a:lstStyle/>
          <a:p>
            <a:r>
              <a:rPr lang="en-ZA" sz="1100" dirty="0"/>
              <a:t>Despite having a broad range of products across categories (e.g., flavours, packaged goods, branded items), these contribute minimally to revenue. </a:t>
            </a:r>
          </a:p>
          <a:p>
            <a:endParaRPr lang="en-ZA" sz="1100" dirty="0"/>
          </a:p>
          <a:p>
            <a:r>
              <a:rPr lang="en-ZA" sz="1100" dirty="0"/>
              <a:t>Customers consistently default to a small subset of familiar products, suggesting that choice complexity is limiting broader product adoption.</a:t>
            </a:r>
            <a:endParaRPr lang="en-US" sz="1100" dirty="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1CF3464E-D846-7F98-96F8-3D3159917B6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58457" y="1889692"/>
            <a:ext cx="2229090" cy="637429"/>
          </a:xfrm>
        </p:spPr>
        <p:txBody>
          <a:bodyPr>
            <a:normAutofit/>
          </a:bodyPr>
          <a:lstStyle/>
          <a:p>
            <a:r>
              <a:rPr lang="en-ZA" sz="1100" dirty="0"/>
              <a:t>Clear Opportunity to Optimise Demand</a:t>
            </a:r>
            <a:endParaRPr lang="en-US" sz="1100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3A5D4830-9BCD-465B-74B3-EEE0A9F944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558457" y="2550694"/>
            <a:ext cx="2229090" cy="2775285"/>
          </a:xfrm>
        </p:spPr>
        <p:txBody>
          <a:bodyPr>
            <a:normAutofit/>
          </a:bodyPr>
          <a:lstStyle/>
          <a:p>
            <a:r>
              <a:rPr lang="en-ZA" sz="1100" dirty="0"/>
              <a:t>Revenue growth will come from </a:t>
            </a:r>
            <a:r>
              <a:rPr lang="en-ZA" sz="1100" b="1" dirty="0"/>
              <a:t>shifting customer behaviour </a:t>
            </a:r>
            <a:r>
              <a:rPr lang="en-ZA" sz="1100" dirty="0"/>
              <a:t>through increasing visibility and uptake of existing products and activating underutilised time periods.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03418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EF7DE-0B4D-7EF3-F1C2-D37FD241E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15" descr="A blurry picture of a brown object ">
            <a:extLst>
              <a:ext uri="{FF2B5EF4-FFF2-40B4-BE49-F238E27FC236}">
                <a16:creationId xmlns:a16="http://schemas.microsoft.com/office/drawing/2014/main" id="{10677617-B7F7-040B-E58A-D183E1488DA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118463"/>
            <a:ext cx="12191999" cy="1333501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8ADD8F0-170E-4D35-A8B7-E9AE1BC46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329" y="-26348"/>
            <a:ext cx="9002215" cy="638050"/>
          </a:xfrm>
        </p:spPr>
        <p:txBody>
          <a:bodyPr/>
          <a:lstStyle/>
          <a:p>
            <a:r>
              <a:rPr lang="en-US" dirty="0"/>
              <a:t>Revenue overview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930D0EC-1D35-C5E8-50E7-08430D3934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5212" y="1266420"/>
            <a:ext cx="11267957" cy="642687"/>
          </a:xfrm>
        </p:spPr>
        <p:txBody>
          <a:bodyPr/>
          <a:lstStyle/>
          <a:p>
            <a:r>
              <a:rPr lang="en-US" dirty="0"/>
              <a:t>Total Revenue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05EF0C-9578-ABB7-0690-E47477BF38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5212" y="1923874"/>
            <a:ext cx="11267957" cy="1076446"/>
          </a:xfrm>
        </p:spPr>
        <p:txBody>
          <a:bodyPr>
            <a:normAutofit/>
          </a:bodyPr>
          <a:lstStyle/>
          <a:p>
            <a:r>
              <a:rPr lang="en-US" sz="6000" dirty="0"/>
              <a:t>R698 812.23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780335-DF87-A252-F8C0-788089140D9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75212" y="3087740"/>
            <a:ext cx="3658724" cy="642687"/>
          </a:xfrm>
        </p:spPr>
        <p:txBody>
          <a:bodyPr/>
          <a:lstStyle/>
          <a:p>
            <a:r>
              <a:rPr lang="en-US" dirty="0"/>
              <a:t>Astoria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6235D0-5ECA-71A9-71DA-363655947C9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5212" y="3745194"/>
            <a:ext cx="3658724" cy="1076446"/>
          </a:xfrm>
        </p:spPr>
        <p:txBody>
          <a:bodyPr>
            <a:normAutofit/>
          </a:bodyPr>
          <a:lstStyle/>
          <a:p>
            <a:r>
              <a:rPr lang="en-US" sz="3200" dirty="0"/>
              <a:t>R232 243.91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31BD91C-484F-2A96-58D6-12841CDDA9B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179829" y="3087740"/>
            <a:ext cx="3658724" cy="642687"/>
          </a:xfrm>
        </p:spPr>
        <p:txBody>
          <a:bodyPr/>
          <a:lstStyle/>
          <a:p>
            <a:r>
              <a:rPr lang="en-US" dirty="0"/>
              <a:t>Hell’s Kitchen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2347495-003D-74EE-9F6C-34CBA1DA24D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79829" y="3745194"/>
            <a:ext cx="3658724" cy="1076446"/>
          </a:xfrm>
        </p:spPr>
        <p:txBody>
          <a:bodyPr>
            <a:normAutofit/>
          </a:bodyPr>
          <a:lstStyle/>
          <a:p>
            <a:r>
              <a:rPr lang="en-US" sz="3200" dirty="0"/>
              <a:t>R236 511.17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77F001F-35CF-61C4-387F-BA5D8D6608F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984445" y="3087740"/>
            <a:ext cx="3658724" cy="642687"/>
          </a:xfrm>
        </p:spPr>
        <p:txBody>
          <a:bodyPr/>
          <a:lstStyle/>
          <a:p>
            <a:r>
              <a:rPr lang="en-US" dirty="0"/>
              <a:t>Lower </a:t>
            </a:r>
            <a:r>
              <a:rPr lang="en-US" dirty="0" err="1"/>
              <a:t>manhattan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528BE81-1ACE-5BD2-EAEB-3F1F7A4AC74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984445" y="3745194"/>
            <a:ext cx="3658724" cy="1076446"/>
          </a:xfrm>
        </p:spPr>
        <p:txBody>
          <a:bodyPr>
            <a:normAutofit/>
          </a:bodyPr>
          <a:lstStyle/>
          <a:p>
            <a:r>
              <a:rPr lang="en-US" sz="3200" dirty="0"/>
              <a:t>R230 057.25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2ADE02D3-3421-76BE-2BE0-38B3F90C5811}"/>
              </a:ext>
            </a:extLst>
          </p:cNvPr>
          <p:cNvSpPr txBox="1">
            <a:spLocks/>
          </p:cNvSpPr>
          <p:nvPr/>
        </p:nvSpPr>
        <p:spPr>
          <a:xfrm>
            <a:off x="375212" y="4821640"/>
            <a:ext cx="3658724" cy="642687"/>
          </a:xfrm>
          <a:prstGeom prst="rect">
            <a:avLst/>
          </a:prstGeom>
          <a:solidFill>
            <a:schemeClr val="accent1"/>
          </a:solidFill>
        </p:spPr>
        <p:txBody>
          <a:bodyPr vert="horz" lIns="274320" tIns="0" rIns="27432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33.23%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6BFEB4FF-3874-F1F5-A030-D6E3A4B8BDD7}"/>
              </a:ext>
            </a:extLst>
          </p:cNvPr>
          <p:cNvSpPr txBox="1">
            <a:spLocks/>
          </p:cNvSpPr>
          <p:nvPr/>
        </p:nvSpPr>
        <p:spPr>
          <a:xfrm>
            <a:off x="4179829" y="4821640"/>
            <a:ext cx="3658724" cy="642687"/>
          </a:xfrm>
          <a:prstGeom prst="rect">
            <a:avLst/>
          </a:prstGeom>
          <a:solidFill>
            <a:schemeClr val="accent1"/>
          </a:solidFill>
        </p:spPr>
        <p:txBody>
          <a:bodyPr vert="horz" lIns="274320" tIns="0" rIns="27432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33.84%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F175EA6C-0E55-729D-EDE4-F1DBB86D2B4E}"/>
              </a:ext>
            </a:extLst>
          </p:cNvPr>
          <p:cNvSpPr txBox="1">
            <a:spLocks/>
          </p:cNvSpPr>
          <p:nvPr/>
        </p:nvSpPr>
        <p:spPr>
          <a:xfrm>
            <a:off x="7984445" y="4821640"/>
            <a:ext cx="3658724" cy="642687"/>
          </a:xfrm>
          <a:prstGeom prst="rect">
            <a:avLst/>
          </a:prstGeom>
          <a:solidFill>
            <a:schemeClr val="accent1"/>
          </a:solidFill>
        </p:spPr>
        <p:txBody>
          <a:bodyPr vert="horz" lIns="274320" tIns="0" rIns="27432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32.92%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18C22D-A02C-6C6D-2E60-1215F225F575}"/>
              </a:ext>
            </a:extLst>
          </p:cNvPr>
          <p:cNvSpPr txBox="1"/>
          <p:nvPr/>
        </p:nvSpPr>
        <p:spPr>
          <a:xfrm>
            <a:off x="543043" y="5581251"/>
            <a:ext cx="11658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200" dirty="0"/>
              <a:t>All three locations contribute roughly one-third of total revenue . Hell’s Kitchen slightly leads, but differences are not statistically meaningful 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F3C5F2EA-254B-76D7-BDC5-4DDD7FFBC34B}"/>
              </a:ext>
            </a:extLst>
          </p:cNvPr>
          <p:cNvSpPr txBox="1">
            <a:spLocks/>
          </p:cNvSpPr>
          <p:nvPr/>
        </p:nvSpPr>
        <p:spPr>
          <a:xfrm>
            <a:off x="296930" y="525971"/>
            <a:ext cx="11527917" cy="638050"/>
          </a:xfrm>
          <a:prstGeom prst="rect">
            <a:avLst/>
          </a:prstGeom>
        </p:spPr>
        <p:txBody>
          <a:bodyPr vert="horz" lIns="91440" tIns="0" rIns="9144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spc="0" normalizeH="0" baseline="0">
                <a:solidFill>
                  <a:schemeClr val="accent3">
                    <a:lumMod val="10000"/>
                    <a:lumOff val="9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1400" b="0" cap="none" dirty="0">
                <a:solidFill>
                  <a:schemeClr val="bg1"/>
                </a:solidFill>
                <a:latin typeface="+mn-lt"/>
              </a:rPr>
              <a:t>Balanced store performance with no clear outperformer, indicating systemic (not location-specific) growth drivers</a:t>
            </a:r>
            <a:endParaRPr lang="en-US" sz="1400" b="0" cap="none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7459B3F-52E8-81FF-05DB-FEE96C1C13F7}"/>
              </a:ext>
            </a:extLst>
          </p:cNvPr>
          <p:cNvSpPr/>
          <p:nvPr/>
        </p:nvSpPr>
        <p:spPr>
          <a:xfrm>
            <a:off x="390643" y="5647282"/>
            <a:ext cx="152400" cy="14493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2B9EFE-6BDA-026F-3154-B8225224B144}"/>
              </a:ext>
            </a:extLst>
          </p:cNvPr>
          <p:cNvSpPr txBox="1"/>
          <p:nvPr/>
        </p:nvSpPr>
        <p:spPr>
          <a:xfrm>
            <a:off x="543043" y="5830238"/>
            <a:ext cx="11658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200" dirty="0"/>
              <a:t>Suggests strong </a:t>
            </a:r>
            <a:r>
              <a:rPr lang="en-ZA" sz="1200" b="1" dirty="0"/>
              <a:t>operational consistency </a:t>
            </a:r>
            <a:r>
              <a:rPr lang="en-ZA" sz="1200" dirty="0"/>
              <a:t>and limited differentiation across locations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94D7F9A-5821-3628-01B3-4AC1CD9BCE3D}"/>
              </a:ext>
            </a:extLst>
          </p:cNvPr>
          <p:cNvSpPr/>
          <p:nvPr/>
        </p:nvSpPr>
        <p:spPr>
          <a:xfrm>
            <a:off x="390643" y="5896269"/>
            <a:ext cx="152400" cy="144936"/>
          </a:xfrm>
          <a:prstGeom prst="ellipse">
            <a:avLst/>
          </a:prstGeom>
          <a:solidFill>
            <a:srgbClr val="853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F7D7CE-E864-B839-CCF9-CDAE0B01B37E}"/>
              </a:ext>
            </a:extLst>
          </p:cNvPr>
          <p:cNvSpPr txBox="1"/>
          <p:nvPr/>
        </p:nvSpPr>
        <p:spPr>
          <a:xfrm>
            <a:off x="543043" y="6079225"/>
            <a:ext cx="11658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200" dirty="0"/>
              <a:t>Growth opportunities should focus on </a:t>
            </a:r>
            <a:r>
              <a:rPr lang="en-ZA" sz="1200" b="1" dirty="0"/>
              <a:t>network-wide strategies</a:t>
            </a:r>
            <a:r>
              <a:rPr lang="en-ZA" sz="1200" dirty="0"/>
              <a:t>, not individual stores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060B556-8A66-1852-B365-9339F94D76F9}"/>
              </a:ext>
            </a:extLst>
          </p:cNvPr>
          <p:cNvSpPr/>
          <p:nvPr/>
        </p:nvSpPr>
        <p:spPr>
          <a:xfrm>
            <a:off x="390643" y="6145256"/>
            <a:ext cx="152400" cy="144936"/>
          </a:xfrm>
          <a:prstGeom prst="ellipse">
            <a:avLst/>
          </a:prstGeom>
          <a:solidFill>
            <a:srgbClr val="562F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3" name="Slide Number Placeholder 111">
            <a:extLst>
              <a:ext uri="{FF2B5EF4-FFF2-40B4-BE49-F238E27FC236}">
                <a16:creationId xmlns:a16="http://schemas.microsoft.com/office/drawing/2014/main" id="{D0B8371D-351C-FDDE-4E9A-503BEBDCA7DA}"/>
              </a:ext>
            </a:extLst>
          </p:cNvPr>
          <p:cNvSpPr txBox="1">
            <a:spLocks/>
          </p:cNvSpPr>
          <p:nvPr/>
        </p:nvSpPr>
        <p:spPr>
          <a:xfrm>
            <a:off x="8899969" y="6288271"/>
            <a:ext cx="2743200" cy="36512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14F588F-3268-487C-BB05-403E3E2B4BD7}" type="slidenum">
              <a:rPr lang="en-US" sz="1200" smtClean="0">
                <a:solidFill>
                  <a:srgbClr val="562F08"/>
                </a:solidFill>
              </a:rPr>
              <a:pPr algn="r"/>
              <a:t>4</a:t>
            </a:fld>
            <a:endParaRPr lang="en-US" sz="1200" dirty="0">
              <a:solidFill>
                <a:srgbClr val="562F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104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800AF2-FD13-CEC9-E9E6-1AC510280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462" y="133562"/>
            <a:ext cx="9002215" cy="638050"/>
          </a:xfrm>
        </p:spPr>
        <p:txBody>
          <a:bodyPr/>
          <a:lstStyle/>
          <a:p>
            <a:r>
              <a:rPr lang="en-US" dirty="0"/>
              <a:t>Revenue trends over time</a:t>
            </a:r>
          </a:p>
        </p:txBody>
      </p:sp>
      <p:graphicFrame>
        <p:nvGraphicFramePr>
          <p:cNvPr id="55" name="Chart 54">
            <a:extLst>
              <a:ext uri="{FF2B5EF4-FFF2-40B4-BE49-F238E27FC236}">
                <a16:creationId xmlns:a16="http://schemas.microsoft.com/office/drawing/2014/main" id="{7757BA4A-5395-D8AD-543C-462CD0E92B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3655433"/>
              </p:ext>
            </p:extLst>
          </p:nvPr>
        </p:nvGraphicFramePr>
        <p:xfrm>
          <a:off x="329619" y="1054317"/>
          <a:ext cx="5606725" cy="28634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6" name="Chart 55">
            <a:extLst>
              <a:ext uri="{FF2B5EF4-FFF2-40B4-BE49-F238E27FC236}">
                <a16:creationId xmlns:a16="http://schemas.microsoft.com/office/drawing/2014/main" id="{BFFAFCCA-64AB-D8DC-AA3F-3764A0573E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2492065"/>
              </p:ext>
            </p:extLst>
          </p:nvPr>
        </p:nvGraphicFramePr>
        <p:xfrm>
          <a:off x="6096000" y="1054318"/>
          <a:ext cx="5790673" cy="28634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7" name="Chart 56">
            <a:extLst>
              <a:ext uri="{FF2B5EF4-FFF2-40B4-BE49-F238E27FC236}">
                <a16:creationId xmlns:a16="http://schemas.microsoft.com/office/drawing/2014/main" id="{D5EE9CA1-40DF-0C5F-2C82-39D87A74F7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9661362"/>
              </p:ext>
            </p:extLst>
          </p:nvPr>
        </p:nvGraphicFramePr>
        <p:xfrm>
          <a:off x="-735673" y="4053120"/>
          <a:ext cx="4155722" cy="22535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9" name="Chart 58">
            <a:extLst>
              <a:ext uri="{FF2B5EF4-FFF2-40B4-BE49-F238E27FC236}">
                <a16:creationId xmlns:a16="http://schemas.microsoft.com/office/drawing/2014/main" id="{F43ECE7B-B0B7-0124-E21E-5D2B8AAD00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3264879"/>
              </p:ext>
            </p:extLst>
          </p:nvPr>
        </p:nvGraphicFramePr>
        <p:xfrm>
          <a:off x="1255231" y="4053120"/>
          <a:ext cx="4596695" cy="22711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61" name="Chart 60">
            <a:extLst>
              <a:ext uri="{FF2B5EF4-FFF2-40B4-BE49-F238E27FC236}">
                <a16:creationId xmlns:a16="http://schemas.microsoft.com/office/drawing/2014/main" id="{4C525274-5E12-3AF5-F536-4F8E60BEBD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8868682"/>
              </p:ext>
            </p:extLst>
          </p:nvPr>
        </p:nvGraphicFramePr>
        <p:xfrm>
          <a:off x="3570996" y="4053120"/>
          <a:ext cx="4517319" cy="22976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pSp>
        <p:nvGrpSpPr>
          <p:cNvPr id="67" name="Group 66">
            <a:extLst>
              <a:ext uri="{FF2B5EF4-FFF2-40B4-BE49-F238E27FC236}">
                <a16:creationId xmlns:a16="http://schemas.microsoft.com/office/drawing/2014/main" id="{FF0B463F-4B39-681D-54E9-01DC23F096BB}"/>
              </a:ext>
            </a:extLst>
          </p:cNvPr>
          <p:cNvGrpSpPr/>
          <p:nvPr/>
        </p:nvGrpSpPr>
        <p:grpSpPr>
          <a:xfrm>
            <a:off x="996950" y="6549466"/>
            <a:ext cx="1345273" cy="230832"/>
            <a:chOff x="457200" y="6549466"/>
            <a:chExt cx="1345273" cy="230832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772584F9-A7D2-F7E1-6A4C-BEB243845FEC}"/>
                </a:ext>
              </a:extLst>
            </p:cNvPr>
            <p:cNvSpPr/>
            <p:nvPr/>
          </p:nvSpPr>
          <p:spPr>
            <a:xfrm>
              <a:off x="457200" y="6592414"/>
              <a:ext cx="152400" cy="14493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B3AE02E-E70C-438F-39D3-8CF64103D7ED}"/>
                </a:ext>
              </a:extLst>
            </p:cNvPr>
            <p:cNvSpPr txBox="1"/>
            <p:nvPr/>
          </p:nvSpPr>
          <p:spPr>
            <a:xfrm>
              <a:off x="576923" y="6549466"/>
              <a:ext cx="122555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01. Morning Rush</a:t>
              </a:r>
              <a:endParaRPr lang="en-ZA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D24A06A-FEAF-B292-6A0E-CDD5918D5BD4}"/>
              </a:ext>
            </a:extLst>
          </p:cNvPr>
          <p:cNvGrpSpPr/>
          <p:nvPr/>
        </p:nvGrpSpPr>
        <p:grpSpPr>
          <a:xfrm>
            <a:off x="2190750" y="6549466"/>
            <a:ext cx="1345273" cy="230832"/>
            <a:chOff x="457200" y="6549466"/>
            <a:chExt cx="1345273" cy="230832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FEC2BA98-E07A-7F04-5EB4-A0FD4094F6ED}"/>
                </a:ext>
              </a:extLst>
            </p:cNvPr>
            <p:cNvSpPr/>
            <p:nvPr/>
          </p:nvSpPr>
          <p:spPr>
            <a:xfrm>
              <a:off x="457200" y="6592414"/>
              <a:ext cx="152400" cy="144936"/>
            </a:xfrm>
            <a:prstGeom prst="ellipse">
              <a:avLst/>
            </a:prstGeom>
            <a:solidFill>
              <a:srgbClr val="843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EC96763-6D9D-BCA5-F838-77EA7CFB769E}"/>
                </a:ext>
              </a:extLst>
            </p:cNvPr>
            <p:cNvSpPr txBox="1"/>
            <p:nvPr/>
          </p:nvSpPr>
          <p:spPr>
            <a:xfrm>
              <a:off x="576923" y="6549466"/>
              <a:ext cx="122555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02. Mid-Morning </a:t>
              </a:r>
              <a:endParaRPr lang="en-ZA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43670C0-1AC0-C382-5894-AA78D1729D96}"/>
              </a:ext>
            </a:extLst>
          </p:cNvPr>
          <p:cNvGrpSpPr/>
          <p:nvPr/>
        </p:nvGrpSpPr>
        <p:grpSpPr>
          <a:xfrm>
            <a:off x="3384550" y="6549466"/>
            <a:ext cx="1345273" cy="230832"/>
            <a:chOff x="457200" y="6549466"/>
            <a:chExt cx="1345273" cy="230832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92122C88-4223-F709-FF59-9ABB5BB74EEF}"/>
                </a:ext>
              </a:extLst>
            </p:cNvPr>
            <p:cNvSpPr/>
            <p:nvPr/>
          </p:nvSpPr>
          <p:spPr>
            <a:xfrm>
              <a:off x="457200" y="6592414"/>
              <a:ext cx="152400" cy="144936"/>
            </a:xfrm>
            <a:prstGeom prst="ellipse">
              <a:avLst/>
            </a:prstGeom>
            <a:solidFill>
              <a:srgbClr val="562F0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291E843-B63A-E05E-0237-8883F3F2914C}"/>
                </a:ext>
              </a:extLst>
            </p:cNvPr>
            <p:cNvSpPr txBox="1"/>
            <p:nvPr/>
          </p:nvSpPr>
          <p:spPr>
            <a:xfrm>
              <a:off x="576923" y="6549466"/>
              <a:ext cx="122555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03. Afternoon</a:t>
              </a:r>
              <a:endParaRPr lang="en-ZA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84295F1F-FB35-D88A-F4C1-192F75C38D85}"/>
              </a:ext>
            </a:extLst>
          </p:cNvPr>
          <p:cNvGrpSpPr/>
          <p:nvPr/>
        </p:nvGrpSpPr>
        <p:grpSpPr>
          <a:xfrm>
            <a:off x="4438650" y="6549466"/>
            <a:ext cx="1345273" cy="230832"/>
            <a:chOff x="457200" y="6549466"/>
            <a:chExt cx="1345273" cy="230832"/>
          </a:xfrm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777DD84B-BCF4-0059-ED3A-FAB07375E6B8}"/>
                </a:ext>
              </a:extLst>
            </p:cNvPr>
            <p:cNvSpPr/>
            <p:nvPr/>
          </p:nvSpPr>
          <p:spPr>
            <a:xfrm>
              <a:off x="457200" y="6592414"/>
              <a:ext cx="152400" cy="144936"/>
            </a:xfrm>
            <a:prstGeom prst="ellipse">
              <a:avLst/>
            </a:prstGeom>
            <a:solidFill>
              <a:srgbClr val="91CF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00C0DA38-1EAE-6A3E-315E-07CA6E21354A}"/>
                </a:ext>
              </a:extLst>
            </p:cNvPr>
            <p:cNvSpPr txBox="1"/>
            <p:nvPr/>
          </p:nvSpPr>
          <p:spPr>
            <a:xfrm>
              <a:off x="576923" y="6549466"/>
              <a:ext cx="122555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04. Evening</a:t>
              </a:r>
              <a:endParaRPr lang="en-ZA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98E9D755-9089-5DB1-6F57-16B087D5319E}"/>
              </a:ext>
            </a:extLst>
          </p:cNvPr>
          <p:cNvGrpSpPr/>
          <p:nvPr/>
        </p:nvGrpSpPr>
        <p:grpSpPr>
          <a:xfrm>
            <a:off x="5346700" y="6549466"/>
            <a:ext cx="1345273" cy="230832"/>
            <a:chOff x="457200" y="6549466"/>
            <a:chExt cx="1345273" cy="230832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49569C7C-69B5-C93F-9B15-2BCD073C4D07}"/>
                </a:ext>
              </a:extLst>
            </p:cNvPr>
            <p:cNvSpPr/>
            <p:nvPr/>
          </p:nvSpPr>
          <p:spPr>
            <a:xfrm>
              <a:off x="457200" y="6592414"/>
              <a:ext cx="152400" cy="144936"/>
            </a:xfrm>
            <a:prstGeom prst="ellipse">
              <a:avLst/>
            </a:prstGeom>
            <a:solidFill>
              <a:srgbClr val="2B9C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415630D9-9E24-2EF8-21B7-0E5FC2455BE0}"/>
                </a:ext>
              </a:extLst>
            </p:cNvPr>
            <p:cNvSpPr txBox="1"/>
            <p:nvPr/>
          </p:nvSpPr>
          <p:spPr>
            <a:xfrm>
              <a:off x="576923" y="6549466"/>
              <a:ext cx="122555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05. Night</a:t>
              </a:r>
              <a:endParaRPr lang="en-ZA" sz="9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89797A0B-3A70-2D30-B898-E65C9BF72ED3}"/>
              </a:ext>
            </a:extLst>
          </p:cNvPr>
          <p:cNvSpPr txBox="1"/>
          <p:nvPr/>
        </p:nvSpPr>
        <p:spPr>
          <a:xfrm>
            <a:off x="1652914" y="4421102"/>
            <a:ext cx="5778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18.01%</a:t>
            </a:r>
            <a:endParaRPr lang="en-ZA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CA4782B-7C43-1A85-A33D-11013F772A81}"/>
              </a:ext>
            </a:extLst>
          </p:cNvPr>
          <p:cNvSpPr txBox="1"/>
          <p:nvPr/>
        </p:nvSpPr>
        <p:spPr>
          <a:xfrm>
            <a:off x="1637827" y="6013050"/>
            <a:ext cx="5778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27.17%</a:t>
            </a:r>
            <a:endParaRPr lang="en-ZA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2BE1450-08A9-20D0-120A-034B22AEF7A6}"/>
              </a:ext>
            </a:extLst>
          </p:cNvPr>
          <p:cNvSpPr txBox="1"/>
          <p:nvPr/>
        </p:nvSpPr>
        <p:spPr>
          <a:xfrm>
            <a:off x="303276" y="6013050"/>
            <a:ext cx="5778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33.83%</a:t>
            </a:r>
            <a:endParaRPr lang="en-ZA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7464EC4-7EAA-8724-84B4-D7787371AC40}"/>
              </a:ext>
            </a:extLst>
          </p:cNvPr>
          <p:cNvSpPr txBox="1"/>
          <p:nvPr/>
        </p:nvSpPr>
        <p:spPr>
          <a:xfrm>
            <a:off x="218510" y="4646332"/>
            <a:ext cx="5778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13.69%</a:t>
            </a:r>
            <a:endParaRPr lang="en-ZA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9A333A5-04A2-A55C-5652-A9896AB077AC}"/>
              </a:ext>
            </a:extLst>
          </p:cNvPr>
          <p:cNvSpPr txBox="1"/>
          <p:nvPr/>
        </p:nvSpPr>
        <p:spPr>
          <a:xfrm>
            <a:off x="725007" y="4347818"/>
            <a:ext cx="5778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13.69%</a:t>
            </a:r>
            <a:endParaRPr lang="en-ZA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F5F914F-F587-7D64-06DE-D3993C25CEC8}"/>
              </a:ext>
            </a:extLst>
          </p:cNvPr>
          <p:cNvSpPr txBox="1"/>
          <p:nvPr/>
        </p:nvSpPr>
        <p:spPr>
          <a:xfrm>
            <a:off x="4019550" y="4524198"/>
            <a:ext cx="5778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23.27%</a:t>
            </a:r>
            <a:endParaRPr lang="en-ZA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D75E63F-3BC8-EF65-C639-42C93071C157}"/>
              </a:ext>
            </a:extLst>
          </p:cNvPr>
          <p:cNvSpPr txBox="1"/>
          <p:nvPr/>
        </p:nvSpPr>
        <p:spPr>
          <a:xfrm>
            <a:off x="3969323" y="6013050"/>
            <a:ext cx="5778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35.69%</a:t>
            </a:r>
            <a:endParaRPr lang="en-ZA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0296CDC-6BAD-6799-4B0D-B9DC6F75D4E1}"/>
              </a:ext>
            </a:extLst>
          </p:cNvPr>
          <p:cNvSpPr txBox="1"/>
          <p:nvPr/>
        </p:nvSpPr>
        <p:spPr>
          <a:xfrm>
            <a:off x="2528938" y="6013050"/>
            <a:ext cx="5778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24.95%</a:t>
            </a:r>
            <a:endParaRPr lang="en-ZA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A6BD296-B705-5B65-9853-5A7652101394}"/>
              </a:ext>
            </a:extLst>
          </p:cNvPr>
          <p:cNvSpPr txBox="1"/>
          <p:nvPr/>
        </p:nvSpPr>
        <p:spPr>
          <a:xfrm>
            <a:off x="2489200" y="4588056"/>
            <a:ext cx="5778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10.42%</a:t>
            </a:r>
            <a:endParaRPr lang="en-ZA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0D685F3-3A34-5595-3FB1-7993FB131D8D}"/>
              </a:ext>
            </a:extLst>
          </p:cNvPr>
          <p:cNvSpPr txBox="1"/>
          <p:nvPr/>
        </p:nvSpPr>
        <p:spPr>
          <a:xfrm>
            <a:off x="3009900" y="4314276"/>
            <a:ext cx="5778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5.67%</a:t>
            </a:r>
            <a:endParaRPr lang="en-ZA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26E975B-9131-B47B-B3C0-084A715BFF94}"/>
              </a:ext>
            </a:extLst>
          </p:cNvPr>
          <p:cNvSpPr txBox="1"/>
          <p:nvPr/>
        </p:nvSpPr>
        <p:spPr>
          <a:xfrm>
            <a:off x="6613925" y="4876987"/>
            <a:ext cx="5778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30.97%</a:t>
            </a:r>
            <a:endParaRPr lang="en-ZA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11D6A24-7CF1-3C0A-5FA9-D970DFC877FB}"/>
              </a:ext>
            </a:extLst>
          </p:cNvPr>
          <p:cNvSpPr txBox="1"/>
          <p:nvPr/>
        </p:nvSpPr>
        <p:spPr>
          <a:xfrm>
            <a:off x="5563001" y="6219282"/>
            <a:ext cx="5778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31.58%</a:t>
            </a:r>
            <a:endParaRPr lang="en-ZA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B6D8CD2-6A0D-D7AC-00AB-762F3E327B7F}"/>
              </a:ext>
            </a:extLst>
          </p:cNvPr>
          <p:cNvSpPr txBox="1"/>
          <p:nvPr/>
        </p:nvSpPr>
        <p:spPr>
          <a:xfrm>
            <a:off x="4479853" y="5170248"/>
            <a:ext cx="5778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29.18%</a:t>
            </a:r>
            <a:endParaRPr lang="en-ZA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FAF3E25-746F-847E-1465-784B4B685182}"/>
              </a:ext>
            </a:extLst>
          </p:cNvPr>
          <p:cNvSpPr txBox="1"/>
          <p:nvPr/>
        </p:nvSpPr>
        <p:spPr>
          <a:xfrm>
            <a:off x="5129614" y="4357224"/>
            <a:ext cx="5778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7.81%</a:t>
            </a:r>
            <a:endParaRPr lang="en-ZA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A16D079-E63F-BF21-E33A-D7E017386253}"/>
              </a:ext>
            </a:extLst>
          </p:cNvPr>
          <p:cNvSpPr txBox="1"/>
          <p:nvPr/>
        </p:nvSpPr>
        <p:spPr>
          <a:xfrm>
            <a:off x="5614590" y="4283292"/>
            <a:ext cx="5778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0.45%</a:t>
            </a:r>
            <a:endParaRPr lang="en-ZA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4" name="Picture Placeholder 15" descr="A blurry picture of a brown object ">
            <a:extLst>
              <a:ext uri="{FF2B5EF4-FFF2-40B4-BE49-F238E27FC236}">
                <a16:creationId xmlns:a16="http://schemas.microsoft.com/office/drawing/2014/main" id="{FEFFA6C4-0E50-AC65-342F-A5BEBC5F537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261588"/>
            <a:ext cx="12191999" cy="1333501"/>
          </a:xfrm>
          <a:prstGeom prst="rect">
            <a:avLst/>
          </a:prstGeom>
        </p:spPr>
      </p:pic>
      <p:sp>
        <p:nvSpPr>
          <p:cNvPr id="105" name="Title 2">
            <a:extLst>
              <a:ext uri="{FF2B5EF4-FFF2-40B4-BE49-F238E27FC236}">
                <a16:creationId xmlns:a16="http://schemas.microsoft.com/office/drawing/2014/main" id="{F71E3AE5-852D-05BB-084A-9FDB89024B40}"/>
              </a:ext>
            </a:extLst>
          </p:cNvPr>
          <p:cNvSpPr txBox="1">
            <a:spLocks/>
          </p:cNvSpPr>
          <p:nvPr/>
        </p:nvSpPr>
        <p:spPr>
          <a:xfrm>
            <a:off x="267670" y="-18702"/>
            <a:ext cx="9002215" cy="638050"/>
          </a:xfrm>
          <a:prstGeom prst="rect">
            <a:avLst/>
          </a:prstGeom>
        </p:spPr>
        <p:txBody>
          <a:bodyPr vert="horz" lIns="91440" tIns="0" rIns="9144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spc="0" normalizeH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E3CBBA"/>
                </a:solidFill>
              </a:rPr>
              <a:t>Revenue trends over time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67EF9FCE-E4FF-C626-C470-B669285C4851}"/>
              </a:ext>
            </a:extLst>
          </p:cNvPr>
          <p:cNvSpPr txBox="1">
            <a:spLocks/>
          </p:cNvSpPr>
          <p:nvPr/>
        </p:nvSpPr>
        <p:spPr>
          <a:xfrm>
            <a:off x="280888" y="477845"/>
            <a:ext cx="11527917" cy="638050"/>
          </a:xfrm>
          <a:prstGeom prst="rect">
            <a:avLst/>
          </a:prstGeom>
        </p:spPr>
        <p:txBody>
          <a:bodyPr vert="horz" lIns="91440" tIns="0" rIns="9144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spc="0" normalizeH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1400" b="0" cap="none" dirty="0">
                <a:solidFill>
                  <a:schemeClr val="bg1"/>
                </a:solidFill>
                <a:latin typeface="+mn-lt"/>
              </a:rPr>
              <a:t>Revenue has doubled over six months, indicating strong growth momentum potentially driven by seasonality and is concentrated in weekday mornings, highlighting reliance on commuter-driven demand and underutilised off-peak periods</a:t>
            </a:r>
            <a:endParaRPr lang="en-US" sz="1400" b="0" cap="none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46DD9E-53E2-9D20-EDD7-C3CA7306C51F}"/>
              </a:ext>
            </a:extLst>
          </p:cNvPr>
          <p:cNvSpPr txBox="1"/>
          <p:nvPr/>
        </p:nvSpPr>
        <p:spPr>
          <a:xfrm>
            <a:off x="7734305" y="3956143"/>
            <a:ext cx="42391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200" dirty="0"/>
              <a:t>Revenue has </a:t>
            </a:r>
            <a:r>
              <a:rPr lang="en-ZA" sz="1200" b="1" dirty="0"/>
              <a:t>more than doubled from January to June</a:t>
            </a:r>
            <a:endParaRPr lang="en-ZA" sz="12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968B7D9-D8F8-EBCD-AAF0-E492D467EDBF}"/>
              </a:ext>
            </a:extLst>
          </p:cNvPr>
          <p:cNvSpPr/>
          <p:nvPr/>
        </p:nvSpPr>
        <p:spPr>
          <a:xfrm>
            <a:off x="7581904" y="4022174"/>
            <a:ext cx="152400" cy="14493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AF86D9-7467-A2A4-EC32-393E79A710E0}"/>
              </a:ext>
            </a:extLst>
          </p:cNvPr>
          <p:cNvSpPr txBox="1"/>
          <p:nvPr/>
        </p:nvSpPr>
        <p:spPr>
          <a:xfrm>
            <a:off x="7734305" y="4205130"/>
            <a:ext cx="42391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200" dirty="0"/>
              <a:t>Growth trend is </a:t>
            </a:r>
            <a:r>
              <a:rPr lang="en-ZA" sz="1200" b="1" dirty="0"/>
              <a:t>consistent across all store locations</a:t>
            </a:r>
            <a:endParaRPr lang="en-ZA" sz="12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8A65B05-281E-C4E3-672B-26FD9E22DF4E}"/>
              </a:ext>
            </a:extLst>
          </p:cNvPr>
          <p:cNvSpPr/>
          <p:nvPr/>
        </p:nvSpPr>
        <p:spPr>
          <a:xfrm>
            <a:off x="7581904" y="4271161"/>
            <a:ext cx="152400" cy="144936"/>
          </a:xfrm>
          <a:prstGeom prst="ellipse">
            <a:avLst/>
          </a:prstGeom>
          <a:solidFill>
            <a:srgbClr val="853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EB043A-B59D-5CC1-1165-1766F9736703}"/>
              </a:ext>
            </a:extLst>
          </p:cNvPr>
          <p:cNvSpPr txBox="1"/>
          <p:nvPr/>
        </p:nvSpPr>
        <p:spPr>
          <a:xfrm>
            <a:off x="7734305" y="4454117"/>
            <a:ext cx="4239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200" dirty="0"/>
              <a:t>No single store is outperforming → growth is </a:t>
            </a:r>
            <a:r>
              <a:rPr lang="en-ZA" sz="1200" b="1" dirty="0"/>
              <a:t>driven by broader demand patterns, not location-specific factors</a:t>
            </a:r>
            <a:endParaRPr lang="en-ZA" sz="12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BC9CEE4-020A-6EC1-639C-C6994D3149B8}"/>
              </a:ext>
            </a:extLst>
          </p:cNvPr>
          <p:cNvSpPr/>
          <p:nvPr/>
        </p:nvSpPr>
        <p:spPr>
          <a:xfrm>
            <a:off x="7581904" y="4520148"/>
            <a:ext cx="152400" cy="144936"/>
          </a:xfrm>
          <a:prstGeom prst="ellipse">
            <a:avLst/>
          </a:prstGeom>
          <a:solidFill>
            <a:srgbClr val="562F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39E4E6-9E1F-62D1-6587-CC9A321EE41B}"/>
              </a:ext>
            </a:extLst>
          </p:cNvPr>
          <p:cNvSpPr txBox="1"/>
          <p:nvPr/>
        </p:nvSpPr>
        <p:spPr>
          <a:xfrm>
            <a:off x="7734305" y="4858823"/>
            <a:ext cx="4239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200" b="1" dirty="0"/>
              <a:t>Weekdays outperform weekends</a:t>
            </a:r>
            <a:r>
              <a:rPr lang="en-ZA" sz="1200" dirty="0"/>
              <a:t> → demand driven by work/commuter behaviour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E20F1A9-EF4C-A7E9-A617-FC8E9E07AD74}"/>
              </a:ext>
            </a:extLst>
          </p:cNvPr>
          <p:cNvSpPr/>
          <p:nvPr/>
        </p:nvSpPr>
        <p:spPr>
          <a:xfrm>
            <a:off x="7581904" y="4924854"/>
            <a:ext cx="152400" cy="14493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70A65B-A633-88A0-3A06-10A1506D88D4}"/>
              </a:ext>
            </a:extLst>
          </p:cNvPr>
          <p:cNvSpPr txBox="1"/>
          <p:nvPr/>
        </p:nvSpPr>
        <p:spPr>
          <a:xfrm>
            <a:off x="7734305" y="5269735"/>
            <a:ext cx="4239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200" b="1" dirty="0"/>
              <a:t>Morning periods dominate revenue contribution</a:t>
            </a:r>
            <a:r>
              <a:rPr lang="en-ZA" sz="1200" dirty="0"/>
              <a:t> across all stores </a:t>
            </a:r>
            <a:r>
              <a:rPr lang="en-US" sz="1200" dirty="0"/>
              <a:t>contributing 45,19%, 58,96% and 62.55% in Astoria, Hell’s Kitchen and Lower Manhattan, respectively</a:t>
            </a:r>
            <a:endParaRPr lang="en-ZA" sz="12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CFE5304-2E29-DE65-6DD8-30FDB4FA99F7}"/>
              </a:ext>
            </a:extLst>
          </p:cNvPr>
          <p:cNvSpPr/>
          <p:nvPr/>
        </p:nvSpPr>
        <p:spPr>
          <a:xfrm>
            <a:off x="7581904" y="5335766"/>
            <a:ext cx="152400" cy="144936"/>
          </a:xfrm>
          <a:prstGeom prst="ellipse">
            <a:avLst/>
          </a:prstGeom>
          <a:solidFill>
            <a:srgbClr val="853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4F8039-66E2-94C7-3D82-35F1D589E05C}"/>
              </a:ext>
            </a:extLst>
          </p:cNvPr>
          <p:cNvSpPr txBox="1"/>
          <p:nvPr/>
        </p:nvSpPr>
        <p:spPr>
          <a:xfrm>
            <a:off x="7734305" y="5844584"/>
            <a:ext cx="42391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200" dirty="0"/>
              <a:t>Significant drop-off in</a:t>
            </a:r>
            <a:r>
              <a:rPr lang="en-ZA" sz="1200" b="1" dirty="0"/>
              <a:t> evening, and night periods</a:t>
            </a:r>
            <a:endParaRPr lang="en-ZA" sz="12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4D7DFFD-8FA4-7DEA-9B51-644B71EC4EEA}"/>
              </a:ext>
            </a:extLst>
          </p:cNvPr>
          <p:cNvSpPr/>
          <p:nvPr/>
        </p:nvSpPr>
        <p:spPr>
          <a:xfrm>
            <a:off x="7581904" y="5910615"/>
            <a:ext cx="152400" cy="144936"/>
          </a:xfrm>
          <a:prstGeom prst="ellipse">
            <a:avLst/>
          </a:prstGeom>
          <a:solidFill>
            <a:srgbClr val="562F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02BB3BB-ECB6-19AB-E661-8CC287775C13}"/>
              </a:ext>
            </a:extLst>
          </p:cNvPr>
          <p:cNvSpPr/>
          <p:nvPr/>
        </p:nvSpPr>
        <p:spPr>
          <a:xfrm>
            <a:off x="7572375" y="6215374"/>
            <a:ext cx="4401116" cy="539163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100" i="1" dirty="0"/>
              <a:t>The business is experiencing strong growth, but it is highly dependent on weekday morning traffic and impacted by the underutilisation large portions of the day and weekends</a:t>
            </a:r>
          </a:p>
        </p:txBody>
      </p:sp>
      <p:pic>
        <p:nvPicPr>
          <p:cNvPr id="20" name="Graphic 19" descr="Lightbulb with solid fill">
            <a:extLst>
              <a:ext uri="{FF2B5EF4-FFF2-40B4-BE49-F238E27FC236}">
                <a16:creationId xmlns:a16="http://schemas.microsoft.com/office/drawing/2014/main" id="{90589769-6AB3-F2AD-F58B-835045BDEAF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12495" y="6251764"/>
            <a:ext cx="469409" cy="469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439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6868D-8EF9-568F-BD9C-906D3A9F5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3D4335E-3750-3F2B-D825-CD958BD098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702502"/>
              </p:ext>
            </p:extLst>
          </p:nvPr>
        </p:nvGraphicFramePr>
        <p:xfrm>
          <a:off x="159994" y="1161456"/>
          <a:ext cx="5756043" cy="2909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A80FE303-741D-7F2C-D68C-2AF1EA3036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8882360"/>
              </p:ext>
            </p:extLst>
          </p:nvPr>
        </p:nvGraphicFramePr>
        <p:xfrm>
          <a:off x="6090325" y="1080201"/>
          <a:ext cx="5194986" cy="3132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EB28463-FB8C-4BED-3660-D5D77086AFF9}"/>
              </a:ext>
            </a:extLst>
          </p:cNvPr>
          <p:cNvSpPr txBox="1"/>
          <p:nvPr/>
        </p:nvSpPr>
        <p:spPr>
          <a:xfrm>
            <a:off x="6438900" y="2116275"/>
            <a:ext cx="5778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38.63%</a:t>
            </a:r>
            <a:endParaRPr lang="en-ZA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F0566A-153D-1D40-DE99-4211BF659F4D}"/>
              </a:ext>
            </a:extLst>
          </p:cNvPr>
          <p:cNvSpPr txBox="1"/>
          <p:nvPr/>
        </p:nvSpPr>
        <p:spPr>
          <a:xfrm>
            <a:off x="7841345" y="4140851"/>
            <a:ext cx="5778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28.11%</a:t>
            </a:r>
            <a:endParaRPr lang="en-ZA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63EC92-080B-74C3-21E5-C3B2201667B9}"/>
              </a:ext>
            </a:extLst>
          </p:cNvPr>
          <p:cNvSpPr txBox="1"/>
          <p:nvPr/>
        </p:nvSpPr>
        <p:spPr>
          <a:xfrm>
            <a:off x="9195818" y="3048881"/>
            <a:ext cx="5778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11.78%</a:t>
            </a:r>
            <a:endParaRPr lang="en-ZA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1D00E1-9C32-FCA2-A48F-63A8DB4778C6}"/>
              </a:ext>
            </a:extLst>
          </p:cNvPr>
          <p:cNvSpPr txBox="1"/>
          <p:nvPr/>
        </p:nvSpPr>
        <p:spPr>
          <a:xfrm>
            <a:off x="8617968" y="1690073"/>
            <a:ext cx="5778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5.74%</a:t>
            </a:r>
            <a:endParaRPr lang="en-ZA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DF46A6-A017-20AC-57DB-E189E5FAD381}"/>
              </a:ext>
            </a:extLst>
          </p:cNvPr>
          <p:cNvSpPr txBox="1"/>
          <p:nvPr/>
        </p:nvSpPr>
        <p:spPr>
          <a:xfrm>
            <a:off x="9044215" y="2116275"/>
            <a:ext cx="5778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10.36%</a:t>
            </a:r>
            <a:endParaRPr lang="en-ZA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7F6DAF52-125B-1014-1282-7B10152E32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1637747"/>
              </p:ext>
            </p:extLst>
          </p:nvPr>
        </p:nvGraphicFramePr>
        <p:xfrm>
          <a:off x="306050" y="4281714"/>
          <a:ext cx="4333079" cy="24656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3339E8C9-2633-7164-83C1-29D69CC2B0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3582404" y="5514521"/>
            <a:ext cx="155404" cy="55012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D0A4BE-5643-E8FD-82E2-5DA228F320E2}"/>
              </a:ext>
            </a:extLst>
          </p:cNvPr>
          <p:cNvSpPr txBox="1"/>
          <p:nvPr/>
        </p:nvSpPr>
        <p:spPr>
          <a:xfrm>
            <a:off x="3786831" y="5444671"/>
            <a:ext cx="17979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Transactions R50 and below</a:t>
            </a:r>
            <a:endParaRPr lang="en-ZA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4AE37B-58BB-242E-B9C8-D0FAF528F8D5}"/>
              </a:ext>
            </a:extLst>
          </p:cNvPr>
          <p:cNvSpPr txBox="1"/>
          <p:nvPr/>
        </p:nvSpPr>
        <p:spPr>
          <a:xfrm>
            <a:off x="3786830" y="5655253"/>
            <a:ext cx="21758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Transactions between R50 and R200</a:t>
            </a:r>
            <a:endParaRPr lang="en-ZA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4BAB37-1512-0564-0E66-DEC691B4A431}"/>
              </a:ext>
            </a:extLst>
          </p:cNvPr>
          <p:cNvSpPr txBox="1"/>
          <p:nvPr/>
        </p:nvSpPr>
        <p:spPr>
          <a:xfrm>
            <a:off x="3786830" y="5865835"/>
            <a:ext cx="21758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Transactions greater than R100</a:t>
            </a:r>
            <a:endParaRPr lang="en-ZA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" name="Picture Placeholder 15" descr="A blurry picture of a brown object ">
            <a:extLst>
              <a:ext uri="{FF2B5EF4-FFF2-40B4-BE49-F238E27FC236}">
                <a16:creationId xmlns:a16="http://schemas.microsoft.com/office/drawing/2014/main" id="{AA711CF2-8A8F-9521-B4F5-28BFC1AA7D6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261588"/>
            <a:ext cx="12191999" cy="1333501"/>
          </a:xfrm>
          <a:prstGeom prst="rect">
            <a:avLst/>
          </a:prstGeom>
        </p:spPr>
      </p:pic>
      <p:sp>
        <p:nvSpPr>
          <p:cNvPr id="14" name="Title 2">
            <a:extLst>
              <a:ext uri="{FF2B5EF4-FFF2-40B4-BE49-F238E27FC236}">
                <a16:creationId xmlns:a16="http://schemas.microsoft.com/office/drawing/2014/main" id="{C8A6F456-57A6-A557-C7F3-D4B301268479}"/>
              </a:ext>
            </a:extLst>
          </p:cNvPr>
          <p:cNvSpPr txBox="1">
            <a:spLocks/>
          </p:cNvSpPr>
          <p:nvPr/>
        </p:nvSpPr>
        <p:spPr>
          <a:xfrm>
            <a:off x="267670" y="-18702"/>
            <a:ext cx="9002215" cy="638050"/>
          </a:xfrm>
          <a:prstGeom prst="rect">
            <a:avLst/>
          </a:prstGeom>
        </p:spPr>
        <p:txBody>
          <a:bodyPr vert="horz" lIns="91440" tIns="0" rIns="91440" bIns="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spc="0" normalizeH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E3CBBA"/>
                </a:solidFill>
              </a:rPr>
              <a:t>Customer Behaviour &amp; Product Performance</a:t>
            </a:r>
          </a:p>
        </p:txBody>
      </p:sp>
      <p:sp>
        <p:nvSpPr>
          <p:cNvPr id="21" name="Title 2">
            <a:extLst>
              <a:ext uri="{FF2B5EF4-FFF2-40B4-BE49-F238E27FC236}">
                <a16:creationId xmlns:a16="http://schemas.microsoft.com/office/drawing/2014/main" id="{B2BD8B2F-68CB-450D-ADF7-FF3FB6804BB5}"/>
              </a:ext>
            </a:extLst>
          </p:cNvPr>
          <p:cNvSpPr txBox="1">
            <a:spLocks/>
          </p:cNvSpPr>
          <p:nvPr/>
        </p:nvSpPr>
        <p:spPr>
          <a:xfrm>
            <a:off x="280888" y="477845"/>
            <a:ext cx="11527917" cy="638050"/>
          </a:xfrm>
          <a:prstGeom prst="rect">
            <a:avLst/>
          </a:prstGeom>
        </p:spPr>
        <p:txBody>
          <a:bodyPr vert="horz" lIns="91440" tIns="0" rIns="9144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spc="0" normalizeH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1400" b="0" cap="none" dirty="0">
                <a:solidFill>
                  <a:schemeClr val="bg1"/>
                </a:solidFill>
                <a:latin typeface="+mn-lt"/>
              </a:rPr>
              <a:t>Revenue is highly concentrated in core beverage and bakery products, with limited contribution from secondary categories</a:t>
            </a:r>
            <a:endParaRPr lang="en-US" sz="1400" b="0" cap="none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18E60E-2205-0F20-8594-BD3452F8DC17}"/>
              </a:ext>
            </a:extLst>
          </p:cNvPr>
          <p:cNvSpPr txBox="1"/>
          <p:nvPr/>
        </p:nvSpPr>
        <p:spPr>
          <a:xfrm>
            <a:off x="6391221" y="4471381"/>
            <a:ext cx="5494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200" dirty="0"/>
              <a:t>Revenue generation trend by product category is similar across all stores, with marginal variation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D7A1097-A8FF-91AF-AB39-17055D3268F1}"/>
              </a:ext>
            </a:extLst>
          </p:cNvPr>
          <p:cNvSpPr/>
          <p:nvPr/>
        </p:nvSpPr>
        <p:spPr>
          <a:xfrm>
            <a:off x="6238821" y="4632662"/>
            <a:ext cx="139769" cy="14493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85156D-47F7-57BD-838A-1A654E728094}"/>
              </a:ext>
            </a:extLst>
          </p:cNvPr>
          <p:cNvSpPr txBox="1"/>
          <p:nvPr/>
        </p:nvSpPr>
        <p:spPr>
          <a:xfrm>
            <a:off x="6391221" y="4968018"/>
            <a:ext cx="5494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200" dirty="0"/>
              <a:t>Highest performing products are </a:t>
            </a:r>
            <a:r>
              <a:rPr lang="en-US" sz="1200" b="1" dirty="0"/>
              <a:t>Coffee, Tea and Baked Goods </a:t>
            </a:r>
            <a:r>
              <a:rPr lang="en-US" sz="1200" dirty="0"/>
              <a:t>which contribute </a:t>
            </a:r>
            <a:r>
              <a:rPr lang="en-US" sz="1200" b="1" dirty="0"/>
              <a:t>~ 78.52% of total revenue</a:t>
            </a:r>
            <a:r>
              <a:rPr lang="en-US" sz="1200" dirty="0"/>
              <a:t> </a:t>
            </a:r>
            <a:endParaRPr lang="en-ZA" sz="1200" dirty="0"/>
          </a:p>
          <a:p>
            <a:endParaRPr lang="en-ZA" sz="120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C197059-15E6-B64B-7C83-F370C0DC4B77}"/>
              </a:ext>
            </a:extLst>
          </p:cNvPr>
          <p:cNvSpPr/>
          <p:nvPr/>
        </p:nvSpPr>
        <p:spPr>
          <a:xfrm>
            <a:off x="6238821" y="5034049"/>
            <a:ext cx="139769" cy="144936"/>
          </a:xfrm>
          <a:prstGeom prst="ellipse">
            <a:avLst/>
          </a:prstGeom>
          <a:solidFill>
            <a:srgbClr val="853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88427F-0ABC-D865-AC56-9CFD9207E148}"/>
              </a:ext>
            </a:extLst>
          </p:cNvPr>
          <p:cNvSpPr txBox="1"/>
          <p:nvPr/>
        </p:nvSpPr>
        <p:spPr>
          <a:xfrm>
            <a:off x="6391221" y="5388455"/>
            <a:ext cx="5494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200" dirty="0"/>
              <a:t>Underperforming products (</a:t>
            </a:r>
            <a:r>
              <a:rPr lang="en-US" sz="1200" dirty="0"/>
              <a:t>Packaged Chocolates, </a:t>
            </a:r>
            <a:r>
              <a:rPr lang="en-US" sz="1200" dirty="0" err="1"/>
              <a:t>Flavours</a:t>
            </a:r>
            <a:r>
              <a:rPr lang="en-US" sz="1200" dirty="0"/>
              <a:t>, Loose Tea and Branded products) contribute </a:t>
            </a:r>
            <a:r>
              <a:rPr lang="en-US" sz="1200" b="1" dirty="0"/>
              <a:t>&lt; 6% of total revenue</a:t>
            </a:r>
            <a:r>
              <a:rPr lang="en-US" sz="1200" dirty="0"/>
              <a:t> </a:t>
            </a:r>
            <a:endParaRPr lang="en-ZA" sz="120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64C0983-450E-D887-07CD-7B15D390F37E}"/>
              </a:ext>
            </a:extLst>
          </p:cNvPr>
          <p:cNvSpPr/>
          <p:nvPr/>
        </p:nvSpPr>
        <p:spPr>
          <a:xfrm>
            <a:off x="6238821" y="5454486"/>
            <a:ext cx="139769" cy="144936"/>
          </a:xfrm>
          <a:prstGeom prst="ellipse">
            <a:avLst/>
          </a:prstGeom>
          <a:solidFill>
            <a:srgbClr val="562F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BDFDBE2-C2BD-3094-D868-F902A5614E30}"/>
              </a:ext>
            </a:extLst>
          </p:cNvPr>
          <p:cNvSpPr/>
          <p:nvPr/>
        </p:nvSpPr>
        <p:spPr>
          <a:xfrm>
            <a:off x="6238821" y="5859192"/>
            <a:ext cx="139769" cy="14493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993DA8-B2E8-E285-CB33-B8472C612418}"/>
              </a:ext>
            </a:extLst>
          </p:cNvPr>
          <p:cNvSpPr txBox="1"/>
          <p:nvPr/>
        </p:nvSpPr>
        <p:spPr>
          <a:xfrm>
            <a:off x="6391221" y="5802255"/>
            <a:ext cx="54947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200" dirty="0"/>
              <a:t>Majority of transactions are </a:t>
            </a:r>
            <a:r>
              <a:rPr lang="en-ZA" sz="1200" b="1" dirty="0"/>
              <a:t>low-value (≤ R50)</a:t>
            </a:r>
            <a:endParaRPr lang="en-ZA" sz="1200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F6BEAE7-F3C0-4296-94F4-996CD1E3C315}"/>
              </a:ext>
            </a:extLst>
          </p:cNvPr>
          <p:cNvSpPr/>
          <p:nvPr/>
        </p:nvSpPr>
        <p:spPr>
          <a:xfrm>
            <a:off x="6365874" y="6192636"/>
            <a:ext cx="5523243" cy="539163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100" i="1" dirty="0"/>
          </a:p>
          <a:p>
            <a:pPr algn="ctr"/>
            <a:r>
              <a:rPr lang="en-ZA" sz="1100" i="1" dirty="0"/>
              <a:t>Strong core offering → good foundation but untapped upsell and cross-sell potential</a:t>
            </a:r>
          </a:p>
          <a:p>
            <a:pPr algn="ctr"/>
            <a:endParaRPr lang="en-ZA" sz="1100" i="1" dirty="0"/>
          </a:p>
        </p:txBody>
      </p:sp>
      <p:pic>
        <p:nvPicPr>
          <p:cNvPr id="33" name="Graphic 32" descr="Lightbulb with solid fill">
            <a:extLst>
              <a:ext uri="{FF2B5EF4-FFF2-40B4-BE49-F238E27FC236}">
                <a16:creationId xmlns:a16="http://schemas.microsoft.com/office/drawing/2014/main" id="{1A5C120B-D2D5-DFD4-87FC-3993D185E6E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05995" y="6229026"/>
            <a:ext cx="430505" cy="469409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FE2DFC0E-F716-4B59-FCB7-3AB0D19819FB}"/>
              </a:ext>
            </a:extLst>
          </p:cNvPr>
          <p:cNvSpPr txBox="1"/>
          <p:nvPr/>
        </p:nvSpPr>
        <p:spPr>
          <a:xfrm>
            <a:off x="2187138" y="5940754"/>
            <a:ext cx="5778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99.44%</a:t>
            </a:r>
            <a:endParaRPr lang="en-ZA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107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AE726D-AF68-DE22-83E9-889C52037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188" y="1325226"/>
            <a:ext cx="4932625" cy="638050"/>
          </a:xfrm>
        </p:spPr>
        <p:txBody>
          <a:bodyPr/>
          <a:lstStyle/>
          <a:p>
            <a:r>
              <a:rPr lang="en-US" dirty="0"/>
              <a:t>Recommendations</a:t>
            </a:r>
          </a:p>
        </p:txBody>
      </p:sp>
      <p:pic>
        <p:nvPicPr>
          <p:cNvPr id="33" name="Picture Placeholder 32" descr="Shaking Hands Icon">
            <a:extLst>
              <a:ext uri="{FF2B5EF4-FFF2-40B4-BE49-F238E27FC236}">
                <a16:creationId xmlns:a16="http://schemas.microsoft.com/office/drawing/2014/main" id="{A466735B-EDA0-DDBE-C53E-41C65600AEFC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39613" y="3573142"/>
            <a:ext cx="484632" cy="484632"/>
          </a:xfrm>
        </p:spPr>
      </p:pic>
      <p:pic>
        <p:nvPicPr>
          <p:cNvPr id="14" name="Picture Placeholder 13" descr="A person pouring milk into a glass of coffee ">
            <a:extLst>
              <a:ext uri="{FF2B5EF4-FFF2-40B4-BE49-F238E27FC236}">
                <a16:creationId xmlns:a16="http://schemas.microsoft.com/office/drawing/2014/main" id="{301670F8-2E6E-6717-C1DC-15F206EDD58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-1"/>
            <a:ext cx="6096000" cy="5243333"/>
          </a:xfrm>
        </p:spPr>
      </p:pic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2D85589E-C1C1-E123-F64E-031C6667FE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</p:spPr>
        <p:txBody>
          <a:bodyPr/>
          <a:lstStyle/>
          <a:p>
            <a:r>
              <a:rPr lang="en-US" noProof="0" dirty="0"/>
              <a:t>Bright Coffee Shop</a:t>
            </a: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052C768-C598-19FB-127E-C6CA7BEC90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</p:spPr>
        <p:txBody>
          <a:bodyPr/>
          <a:lstStyle/>
          <a:p>
            <a:fld id="{914F588F-3268-487C-BB05-403E3E2B4BD7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B7F49A-3718-2805-6AD1-5BC50A2CE7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22338" y="2328495"/>
            <a:ext cx="4286501" cy="538223"/>
          </a:xfrm>
        </p:spPr>
        <p:txBody>
          <a:bodyPr/>
          <a:lstStyle/>
          <a:p>
            <a:r>
              <a:rPr lang="en-US" dirty="0"/>
              <a:t>Introduce Loyalty </a:t>
            </a:r>
            <a:r>
              <a:rPr lang="en-US" dirty="0" err="1"/>
              <a:t>Programmes</a:t>
            </a:r>
            <a:endParaRPr lang="en-ZA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0FFF47-4EFD-1E64-96ED-F7EA9F7F478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622338" y="2936818"/>
            <a:ext cx="4286501" cy="538223"/>
          </a:xfrm>
        </p:spPr>
        <p:txBody>
          <a:bodyPr/>
          <a:lstStyle/>
          <a:p>
            <a:r>
              <a:rPr lang="en-US" dirty="0"/>
              <a:t>Optimise Product Mix</a:t>
            </a:r>
            <a:endParaRPr lang="en-ZA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A312A0F-79F1-FB1F-6C14-15AB4C6A309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622338" y="3545141"/>
            <a:ext cx="4286501" cy="538223"/>
          </a:xfrm>
        </p:spPr>
        <p:txBody>
          <a:bodyPr/>
          <a:lstStyle/>
          <a:p>
            <a:r>
              <a:rPr lang="en-US" dirty="0"/>
              <a:t>Activate Off-Peak Demand</a:t>
            </a:r>
            <a:endParaRPr lang="en-ZA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58C5598-B4A3-5D58-D325-46975E077EC9}"/>
              </a:ext>
            </a:extLst>
          </p:cNvPr>
          <p:cNvSpPr txBox="1">
            <a:spLocks/>
          </p:cNvSpPr>
          <p:nvPr/>
        </p:nvSpPr>
        <p:spPr>
          <a:xfrm>
            <a:off x="1622338" y="4157155"/>
            <a:ext cx="4286501" cy="538223"/>
          </a:xfrm>
          <a:prstGeom prst="rect">
            <a:avLst/>
          </a:prstGeom>
          <a:noFill/>
        </p:spPr>
        <p:txBody>
          <a:bodyPr vert="horz" lIns="91440" tIns="0" rIns="9144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kern="1200">
                <a:solidFill>
                  <a:schemeClr val="accent1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Increase Average Transaction Value</a:t>
            </a:r>
            <a:endParaRPr lang="en-ZA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046143C-D8C1-DB93-171B-E51EA78466D4}"/>
              </a:ext>
            </a:extLst>
          </p:cNvPr>
          <p:cNvSpPr txBox="1">
            <a:spLocks/>
          </p:cNvSpPr>
          <p:nvPr/>
        </p:nvSpPr>
        <p:spPr>
          <a:xfrm>
            <a:off x="1622338" y="4765478"/>
            <a:ext cx="4286501" cy="538223"/>
          </a:xfrm>
          <a:prstGeom prst="rect">
            <a:avLst/>
          </a:prstGeom>
          <a:noFill/>
        </p:spPr>
        <p:txBody>
          <a:bodyPr vert="horz" lIns="91440" tIns="0" rIns="9144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kern="1200">
                <a:solidFill>
                  <a:schemeClr val="accent1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Drive Product Uptake</a:t>
            </a:r>
            <a:endParaRPr lang="en-ZA" dirty="0"/>
          </a:p>
        </p:txBody>
      </p:sp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E1A1CAB0-DDA7-6461-D7D3-17B960048030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r:embed="rId5"/>
          <a:srcRect t="2041" b="2041"/>
          <a:stretch>
            <a:fillRect/>
          </a:stretch>
        </p:blipFill>
        <p:spPr>
          <a:xfrm>
            <a:off x="1039613" y="2340189"/>
            <a:ext cx="484632" cy="484632"/>
          </a:xfrm>
          <a:prstGeom prst="rect">
            <a:avLst/>
          </a:prstGeom>
        </p:spPr>
      </p:pic>
      <p:pic>
        <p:nvPicPr>
          <p:cNvPr id="36" name="Picture Placeholder 35">
            <a:extLst>
              <a:ext uri="{FF2B5EF4-FFF2-40B4-BE49-F238E27FC236}">
                <a16:creationId xmlns:a16="http://schemas.microsoft.com/office/drawing/2014/main" id="{434618A5-493C-DB56-7ADB-918F00C9F4C7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6"/>
          <a:srcRect t="2740" b="2740"/>
          <a:stretch>
            <a:fillRect/>
          </a:stretch>
        </p:blipFill>
        <p:spPr>
          <a:xfrm>
            <a:off x="1039613" y="2956665"/>
            <a:ext cx="484632" cy="484632"/>
          </a:xfrm>
          <a:prstGeom prst="rect">
            <a:avLst/>
          </a:prstGeom>
        </p:spPr>
      </p:pic>
      <p:pic>
        <p:nvPicPr>
          <p:cNvPr id="37" name="Picture Placeholder 24">
            <a:extLst>
              <a:ext uri="{FF2B5EF4-FFF2-40B4-BE49-F238E27FC236}">
                <a16:creationId xmlns:a16="http://schemas.microsoft.com/office/drawing/2014/main" id="{E1AFDBB3-49CF-4CFB-59EB-03117EF6BD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10000" b="10000"/>
          <a:stretch/>
        </p:blipFill>
        <p:spPr>
          <a:xfrm>
            <a:off x="1039613" y="4184348"/>
            <a:ext cx="484632" cy="484632"/>
          </a:xfrm>
          <a:prstGeom prst="rect">
            <a:avLst/>
          </a:prstGeom>
        </p:spPr>
      </p:pic>
      <p:pic>
        <p:nvPicPr>
          <p:cNvPr id="38" name="Picture Placeholder 35">
            <a:extLst>
              <a:ext uri="{FF2B5EF4-FFF2-40B4-BE49-F238E27FC236}">
                <a16:creationId xmlns:a16="http://schemas.microsoft.com/office/drawing/2014/main" id="{4D2FA34C-8F2A-C859-563A-18D3F82BB23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t="10000" b="10000"/>
          <a:stretch/>
        </p:blipFill>
        <p:spPr>
          <a:xfrm>
            <a:off x="1039613" y="4800824"/>
            <a:ext cx="484632" cy="48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446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1DEBA6-51A6-CB5B-82EE-A604972D3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A1407158-3F71-BF29-CD74-D17A79651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4B0A02-1514-4AA3-4873-3297A5D350E4}"/>
              </a:ext>
            </a:extLst>
          </p:cNvPr>
          <p:cNvSpPr/>
          <p:nvPr/>
        </p:nvSpPr>
        <p:spPr>
          <a:xfrm>
            <a:off x="9780729" y="-2793"/>
            <a:ext cx="2449615" cy="6858000"/>
          </a:xfrm>
          <a:prstGeom prst="rect">
            <a:avLst/>
          </a:prstGeom>
          <a:solidFill>
            <a:srgbClr val="E3CBB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F7CABE4-FA47-471D-BAC8-1021E52F24DC}"/>
              </a:ext>
            </a:extLst>
          </p:cNvPr>
          <p:cNvSpPr/>
          <p:nvPr/>
        </p:nvSpPr>
        <p:spPr>
          <a:xfrm rot="5400000">
            <a:off x="5271385" y="2070985"/>
            <a:ext cx="6858000" cy="2716030"/>
          </a:xfrm>
          <a:custGeom>
            <a:avLst/>
            <a:gdLst>
              <a:gd name="csX0" fmla="*/ 0 w 6858000"/>
              <a:gd name="csY0" fmla="*/ 2716030 h 2716030"/>
              <a:gd name="csX1" fmla="*/ 0 w 6858000"/>
              <a:gd name="csY1" fmla="*/ 266415 h 2716030"/>
              <a:gd name="csX2" fmla="*/ 153624 w 6858000"/>
              <a:gd name="csY2" fmla="*/ 266415 h 2716030"/>
              <a:gd name="csX3" fmla="*/ 363061 w 6858000"/>
              <a:gd name="csY3" fmla="*/ 0 h 2716030"/>
              <a:gd name="csX4" fmla="*/ 572497 w 6858000"/>
              <a:gd name="csY4" fmla="*/ 266415 h 2716030"/>
              <a:gd name="csX5" fmla="*/ 6858000 w 6858000"/>
              <a:gd name="csY5" fmla="*/ 266415 h 2716030"/>
              <a:gd name="csX6" fmla="*/ 6857999 w 6858000"/>
              <a:gd name="csY6" fmla="*/ 2716030 h 2716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2716030">
                <a:moveTo>
                  <a:pt x="0" y="2716030"/>
                </a:moveTo>
                <a:lnTo>
                  <a:pt x="0" y="266415"/>
                </a:lnTo>
                <a:lnTo>
                  <a:pt x="153624" y="266415"/>
                </a:lnTo>
                <a:lnTo>
                  <a:pt x="363061" y="0"/>
                </a:lnTo>
                <a:lnTo>
                  <a:pt x="572497" y="266415"/>
                </a:lnTo>
                <a:lnTo>
                  <a:pt x="6858000" y="266415"/>
                </a:lnTo>
                <a:lnTo>
                  <a:pt x="6857999" y="2716030"/>
                </a:lnTo>
                <a:close/>
              </a:path>
            </a:pathLst>
          </a:custGeom>
          <a:solidFill>
            <a:srgbClr val="C4957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ZA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6E0B7A5-75C0-F25C-85C2-88B943162079}"/>
              </a:ext>
            </a:extLst>
          </p:cNvPr>
          <p:cNvSpPr/>
          <p:nvPr/>
        </p:nvSpPr>
        <p:spPr>
          <a:xfrm rot="5400000">
            <a:off x="2820646" y="2069719"/>
            <a:ext cx="6858000" cy="2718563"/>
          </a:xfrm>
          <a:custGeom>
            <a:avLst/>
            <a:gdLst>
              <a:gd name="csX0" fmla="*/ 0 w 6858000"/>
              <a:gd name="csY0" fmla="*/ 2718563 h 2718563"/>
              <a:gd name="csX1" fmla="*/ 0 w 6858000"/>
              <a:gd name="csY1" fmla="*/ 268948 h 2718563"/>
              <a:gd name="csX2" fmla="*/ 151632 w 6858000"/>
              <a:gd name="csY2" fmla="*/ 268948 h 2718563"/>
              <a:gd name="csX3" fmla="*/ 363061 w 6858000"/>
              <a:gd name="csY3" fmla="*/ 0 h 2718563"/>
              <a:gd name="csX4" fmla="*/ 574489 w 6858000"/>
              <a:gd name="csY4" fmla="*/ 268948 h 2718563"/>
              <a:gd name="csX5" fmla="*/ 6858000 w 6858000"/>
              <a:gd name="csY5" fmla="*/ 268948 h 2718563"/>
              <a:gd name="csX6" fmla="*/ 6858000 w 6858000"/>
              <a:gd name="csY6" fmla="*/ 2718563 h 27185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2718563">
                <a:moveTo>
                  <a:pt x="0" y="2718563"/>
                </a:moveTo>
                <a:lnTo>
                  <a:pt x="0" y="268948"/>
                </a:lnTo>
                <a:lnTo>
                  <a:pt x="151632" y="268948"/>
                </a:lnTo>
                <a:lnTo>
                  <a:pt x="363061" y="0"/>
                </a:lnTo>
                <a:lnTo>
                  <a:pt x="574489" y="268948"/>
                </a:lnTo>
                <a:lnTo>
                  <a:pt x="6858000" y="268948"/>
                </a:lnTo>
                <a:lnTo>
                  <a:pt x="6858000" y="27185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ZA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406438D-E085-90A7-A4D0-2A9B6F39F078}"/>
              </a:ext>
            </a:extLst>
          </p:cNvPr>
          <p:cNvSpPr/>
          <p:nvPr/>
        </p:nvSpPr>
        <p:spPr>
          <a:xfrm rot="5400000">
            <a:off x="379882" y="2069718"/>
            <a:ext cx="6858000" cy="2718564"/>
          </a:xfrm>
          <a:custGeom>
            <a:avLst/>
            <a:gdLst>
              <a:gd name="csX0" fmla="*/ 0 w 6858000"/>
              <a:gd name="csY0" fmla="*/ 2718564 h 2718564"/>
              <a:gd name="csX1" fmla="*/ 0 w 6858000"/>
              <a:gd name="csY1" fmla="*/ 268949 h 2718564"/>
              <a:gd name="csX2" fmla="*/ 151631 w 6858000"/>
              <a:gd name="csY2" fmla="*/ 268949 h 2718564"/>
              <a:gd name="csX3" fmla="*/ 363061 w 6858000"/>
              <a:gd name="csY3" fmla="*/ 0 h 2718564"/>
              <a:gd name="csX4" fmla="*/ 574490 w 6858000"/>
              <a:gd name="csY4" fmla="*/ 268949 h 2718564"/>
              <a:gd name="csX5" fmla="*/ 6858000 w 6858000"/>
              <a:gd name="csY5" fmla="*/ 268949 h 2718564"/>
              <a:gd name="csX6" fmla="*/ 6858000 w 6858000"/>
              <a:gd name="csY6" fmla="*/ 2718564 h 27185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2718564">
                <a:moveTo>
                  <a:pt x="0" y="2718564"/>
                </a:moveTo>
                <a:lnTo>
                  <a:pt x="0" y="268949"/>
                </a:lnTo>
                <a:lnTo>
                  <a:pt x="151631" y="268949"/>
                </a:lnTo>
                <a:lnTo>
                  <a:pt x="363061" y="0"/>
                </a:lnTo>
                <a:lnTo>
                  <a:pt x="574490" y="268949"/>
                </a:lnTo>
                <a:lnTo>
                  <a:pt x="6858000" y="268949"/>
                </a:lnTo>
                <a:lnTo>
                  <a:pt x="6858000" y="2718564"/>
                </a:lnTo>
                <a:close/>
              </a:path>
            </a:pathLst>
          </a:custGeom>
          <a:solidFill>
            <a:srgbClr val="853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ZA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8847820-51D0-7BF8-8642-37B62B429B20}"/>
              </a:ext>
            </a:extLst>
          </p:cNvPr>
          <p:cNvSpPr/>
          <p:nvPr/>
        </p:nvSpPr>
        <p:spPr>
          <a:xfrm rot="5400000">
            <a:off x="-2074008" y="2074009"/>
            <a:ext cx="6858000" cy="2709982"/>
          </a:xfrm>
          <a:custGeom>
            <a:avLst/>
            <a:gdLst>
              <a:gd name="csX0" fmla="*/ 0 w 6858000"/>
              <a:gd name="csY0" fmla="*/ 2709982 h 2709982"/>
              <a:gd name="csX1" fmla="*/ 0 w 6858000"/>
              <a:gd name="csY1" fmla="*/ 260368 h 2709982"/>
              <a:gd name="csX2" fmla="*/ 158377 w 6858000"/>
              <a:gd name="csY2" fmla="*/ 260368 h 2709982"/>
              <a:gd name="csX3" fmla="*/ 363061 w 6858000"/>
              <a:gd name="csY3" fmla="*/ 0 h 2709982"/>
              <a:gd name="csX4" fmla="*/ 567744 w 6858000"/>
              <a:gd name="csY4" fmla="*/ 260368 h 2709982"/>
              <a:gd name="csX5" fmla="*/ 6858000 w 6858000"/>
              <a:gd name="csY5" fmla="*/ 260368 h 2709982"/>
              <a:gd name="csX6" fmla="*/ 6858000 w 6858000"/>
              <a:gd name="csY6" fmla="*/ 2709982 h 27099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2709982">
                <a:moveTo>
                  <a:pt x="0" y="2709982"/>
                </a:moveTo>
                <a:lnTo>
                  <a:pt x="0" y="260368"/>
                </a:lnTo>
                <a:lnTo>
                  <a:pt x="158377" y="260368"/>
                </a:lnTo>
                <a:lnTo>
                  <a:pt x="363061" y="0"/>
                </a:lnTo>
                <a:lnTo>
                  <a:pt x="567744" y="260368"/>
                </a:lnTo>
                <a:lnTo>
                  <a:pt x="6858000" y="260368"/>
                </a:lnTo>
                <a:lnTo>
                  <a:pt x="6858000" y="2709982"/>
                </a:lnTo>
                <a:close/>
              </a:path>
            </a:pathLst>
          </a:custGeom>
          <a:solidFill>
            <a:srgbClr val="562F0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ZA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531291-4433-04D0-B9F5-EF68276F6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4100" y="336274"/>
            <a:ext cx="2157585" cy="48463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ACTIVATE OFF-PEAK DEMAND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7DEAC8-5BBF-DD53-A888-C23ECF2839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54100" y="1397468"/>
            <a:ext cx="2154857" cy="2199311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ZA" sz="4800" b="1" dirty="0">
                <a:solidFill>
                  <a:schemeClr val="bg1"/>
                </a:solidFill>
              </a:rPr>
              <a:t>PROBLEM:</a:t>
            </a:r>
          </a:p>
          <a:p>
            <a:pPr marL="0" indent="0" algn="ctr">
              <a:buNone/>
            </a:pPr>
            <a:r>
              <a:rPr lang="en-ZA" sz="3600" dirty="0">
                <a:solidFill>
                  <a:schemeClr val="bg1"/>
                </a:solidFill>
              </a:rPr>
              <a:t>Revenue is heavily concentrated in weekday mornings</a:t>
            </a:r>
          </a:p>
          <a:p>
            <a:pPr marL="0" indent="0" algn="ctr">
              <a:buNone/>
            </a:pPr>
            <a:r>
              <a:rPr lang="en-ZA" sz="4800" b="1" dirty="0">
                <a:solidFill>
                  <a:schemeClr val="bg1"/>
                </a:solidFill>
              </a:rPr>
              <a:t>ACTIONS:</a:t>
            </a:r>
          </a:p>
          <a:p>
            <a:pPr marL="0" indent="0" algn="ctr">
              <a:buNone/>
            </a:pPr>
            <a:r>
              <a:rPr lang="en-ZA" sz="3600" dirty="0">
                <a:solidFill>
                  <a:schemeClr val="bg1"/>
                </a:solidFill>
              </a:rPr>
              <a:t>Introduce </a:t>
            </a:r>
            <a:r>
              <a:rPr lang="en-ZA" sz="3600" b="1" dirty="0">
                <a:solidFill>
                  <a:schemeClr val="bg1"/>
                </a:solidFill>
              </a:rPr>
              <a:t>time-based</a:t>
            </a:r>
            <a:r>
              <a:rPr lang="en-ZA" sz="3600" dirty="0">
                <a:solidFill>
                  <a:schemeClr val="bg1"/>
                </a:solidFill>
              </a:rPr>
              <a:t> offers/promotions: </a:t>
            </a:r>
          </a:p>
          <a:p>
            <a:pPr algn="ctr"/>
            <a:r>
              <a:rPr lang="en-ZA" sz="3600" dirty="0">
                <a:solidFill>
                  <a:schemeClr val="bg1"/>
                </a:solidFill>
              </a:rPr>
              <a:t>“Afternoon pick-me-up” / “2-for-1 after 2pm” </a:t>
            </a:r>
          </a:p>
          <a:p>
            <a:pPr marL="0" indent="0" algn="ctr">
              <a:buNone/>
            </a:pPr>
            <a:r>
              <a:rPr lang="en-ZA" sz="3600" dirty="0">
                <a:solidFill>
                  <a:schemeClr val="bg1"/>
                </a:solidFill>
              </a:rPr>
              <a:t>Launch </a:t>
            </a:r>
            <a:r>
              <a:rPr lang="en-ZA" sz="3600" b="1" dirty="0">
                <a:solidFill>
                  <a:schemeClr val="bg1"/>
                </a:solidFill>
              </a:rPr>
              <a:t>weekend-specific</a:t>
            </a:r>
            <a:r>
              <a:rPr lang="en-ZA" sz="3600" dirty="0">
                <a:solidFill>
                  <a:schemeClr val="bg1"/>
                </a:solidFill>
              </a:rPr>
              <a:t> offerings: </a:t>
            </a:r>
          </a:p>
          <a:p>
            <a:pPr algn="ctr"/>
            <a:r>
              <a:rPr lang="en-ZA" sz="3600" dirty="0">
                <a:solidFill>
                  <a:schemeClr val="bg1"/>
                </a:solidFill>
              </a:rPr>
              <a:t>Brunch menus, leisure-focused promotions </a:t>
            </a:r>
          </a:p>
          <a:p>
            <a:pPr marL="0" indent="0" algn="ctr">
              <a:buNone/>
            </a:pPr>
            <a:r>
              <a:rPr lang="en-ZA" sz="3600" dirty="0">
                <a:solidFill>
                  <a:schemeClr val="bg1"/>
                </a:solidFill>
              </a:rPr>
              <a:t>Expand </a:t>
            </a:r>
            <a:r>
              <a:rPr lang="en-ZA" sz="3600" b="1" dirty="0">
                <a:solidFill>
                  <a:schemeClr val="bg1"/>
                </a:solidFill>
              </a:rPr>
              <a:t>product selection </a:t>
            </a:r>
            <a:r>
              <a:rPr lang="en-ZA" sz="3600" dirty="0">
                <a:solidFill>
                  <a:schemeClr val="bg1"/>
                </a:solidFill>
              </a:rPr>
              <a:t>to align with </a:t>
            </a:r>
            <a:r>
              <a:rPr lang="en-ZA" sz="3600" b="1" dirty="0">
                <a:solidFill>
                  <a:schemeClr val="bg1"/>
                </a:solidFill>
              </a:rPr>
              <a:t>seasonality:</a:t>
            </a:r>
            <a:r>
              <a:rPr lang="en-ZA" sz="36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n-ZA" sz="3600" dirty="0">
                <a:solidFill>
                  <a:schemeClr val="bg1"/>
                </a:solidFill>
              </a:rPr>
              <a:t>Introduce iced coffee and blended beverages (e.g., frappés, iced lattes) </a:t>
            </a:r>
          </a:p>
          <a:p>
            <a:pPr algn="ctr"/>
            <a:r>
              <a:rPr lang="en-ZA" sz="3600" i="1" dirty="0">
                <a:solidFill>
                  <a:schemeClr val="bg1"/>
                </a:solidFill>
              </a:rPr>
              <a:t>Position as refreshing afternoon alternatives</a:t>
            </a:r>
            <a:endParaRPr lang="en-ZA" i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ZA" sz="4800" b="1" dirty="0">
                <a:solidFill>
                  <a:schemeClr val="bg1"/>
                </a:solidFill>
              </a:rPr>
              <a:t>IMPACT:</a:t>
            </a:r>
          </a:p>
          <a:p>
            <a:pPr marL="0" indent="0" algn="ctr">
              <a:buNone/>
            </a:pPr>
            <a:r>
              <a:rPr lang="en-ZA" sz="3600" dirty="0">
                <a:solidFill>
                  <a:schemeClr val="bg1"/>
                </a:solidFill>
              </a:rPr>
              <a:t>Unlocks revenue from underutilised time periods</a:t>
            </a:r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CEDE9973-516B-A482-EDE4-129565594710}"/>
              </a:ext>
            </a:extLst>
          </p:cNvPr>
          <p:cNvSpPr txBox="1">
            <a:spLocks/>
          </p:cNvSpPr>
          <p:nvPr/>
        </p:nvSpPr>
        <p:spPr>
          <a:xfrm>
            <a:off x="7615649" y="297694"/>
            <a:ext cx="2086903" cy="484632"/>
          </a:xfrm>
          <a:prstGeom prst="rect">
            <a:avLst/>
          </a:prstGeom>
        </p:spPr>
        <p:txBody>
          <a:bodyPr vert="horz" lIns="91440" tIns="0" rIns="91440" bIns="0" rtlCol="0" anchor="b">
            <a:normAutofit fontScale="850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800" b="1" kern="1200" cap="none" spc="0" normalizeH="0" baseline="0">
                <a:solidFill>
                  <a:schemeClr val="accent1">
                    <a:lumMod val="1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1600" dirty="0">
                <a:solidFill>
                  <a:schemeClr val="bg1"/>
                </a:solidFill>
              </a:rPr>
              <a:t>INCREASE AVERAGE TRANSACTION VALUE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A891EA14-4EA8-2883-CA98-E96FBC3473C0}"/>
              </a:ext>
            </a:extLst>
          </p:cNvPr>
          <p:cNvSpPr txBox="1">
            <a:spLocks/>
          </p:cNvSpPr>
          <p:nvPr/>
        </p:nvSpPr>
        <p:spPr>
          <a:xfrm>
            <a:off x="7615649" y="1385016"/>
            <a:ext cx="2084266" cy="2199311"/>
          </a:xfrm>
          <a:prstGeom prst="rect">
            <a:avLst/>
          </a:prstGeom>
          <a:noFill/>
        </p:spPr>
        <p:txBody>
          <a:bodyPr vert="horz" lIns="91440" tIns="91440" rIns="91440" bIns="0" rtlCol="0" anchor="t">
            <a:normAutofit fontScale="25000" lnSpcReduction="20000"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Clr>
                <a:schemeClr val="accent2"/>
              </a:buClr>
              <a:buSzPct val="100000"/>
              <a:buFont typeface="Courier New" panose="02070309020205020404" pitchFamily="49" charset="0"/>
              <a:buChar char="o"/>
              <a:defRPr lang="en-US" sz="1200" kern="1200" dirty="0">
                <a:solidFill>
                  <a:schemeClr val="accent1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ourier New" panose="02070309020205020404" pitchFamily="49" charset="0"/>
              <a:buNone/>
            </a:pPr>
            <a:r>
              <a:rPr lang="en-ZA" sz="4800" b="1" dirty="0">
                <a:solidFill>
                  <a:schemeClr val="bg1"/>
                </a:solidFill>
              </a:rPr>
              <a:t>PROBLEM:</a:t>
            </a:r>
          </a:p>
          <a:p>
            <a:pPr marL="0" indent="0" algn="ctr">
              <a:buNone/>
            </a:pPr>
            <a:r>
              <a:rPr lang="en-ZA" sz="3600" dirty="0">
                <a:solidFill>
                  <a:schemeClr val="bg1"/>
                </a:solidFill>
              </a:rPr>
              <a:t>Majority of transactions are below R50</a:t>
            </a:r>
          </a:p>
          <a:p>
            <a:pPr marL="0" indent="0" algn="ctr">
              <a:buNone/>
            </a:pPr>
            <a:r>
              <a:rPr lang="en-ZA" sz="4800" b="1" dirty="0">
                <a:solidFill>
                  <a:schemeClr val="bg1"/>
                </a:solidFill>
              </a:rPr>
              <a:t>ACTIONS:</a:t>
            </a:r>
          </a:p>
          <a:p>
            <a:pPr marL="0" indent="0" algn="ctr">
              <a:buFont typeface="Courier New" panose="02070309020205020404" pitchFamily="49" charset="0"/>
              <a:buNone/>
            </a:pPr>
            <a:r>
              <a:rPr lang="en-ZA" sz="3600" dirty="0">
                <a:solidFill>
                  <a:schemeClr val="bg1"/>
                </a:solidFill>
              </a:rPr>
              <a:t>Introduce </a:t>
            </a:r>
            <a:r>
              <a:rPr lang="en-ZA" sz="3600" b="1" dirty="0">
                <a:solidFill>
                  <a:schemeClr val="bg1"/>
                </a:solidFill>
              </a:rPr>
              <a:t>bundled offers</a:t>
            </a:r>
            <a:r>
              <a:rPr lang="en-ZA" sz="3600" dirty="0">
                <a:solidFill>
                  <a:schemeClr val="bg1"/>
                </a:solidFill>
              </a:rPr>
              <a:t>: </a:t>
            </a:r>
          </a:p>
          <a:p>
            <a:pPr algn="ctr"/>
            <a:r>
              <a:rPr lang="en-ZA" sz="3600" dirty="0">
                <a:solidFill>
                  <a:schemeClr val="bg1"/>
                </a:solidFill>
              </a:rPr>
              <a:t>Coffee + pastry combinations at a slight perceived discount</a:t>
            </a:r>
          </a:p>
          <a:p>
            <a:pPr marL="0" indent="0" algn="ctr">
              <a:buFont typeface="Courier New" panose="02070309020205020404" pitchFamily="49" charset="0"/>
              <a:buNone/>
            </a:pPr>
            <a:r>
              <a:rPr lang="en-ZA" sz="3600" dirty="0">
                <a:solidFill>
                  <a:schemeClr val="bg1"/>
                </a:solidFill>
              </a:rPr>
              <a:t>Implement price </a:t>
            </a:r>
            <a:r>
              <a:rPr lang="en-ZA" sz="3600" b="1" dirty="0">
                <a:solidFill>
                  <a:schemeClr val="bg1"/>
                </a:solidFill>
              </a:rPr>
              <a:t>anchoring strategies</a:t>
            </a:r>
            <a:r>
              <a:rPr lang="en-ZA" sz="3600" dirty="0">
                <a:solidFill>
                  <a:schemeClr val="bg1"/>
                </a:solidFill>
              </a:rPr>
              <a:t>: </a:t>
            </a:r>
          </a:p>
          <a:p>
            <a:pPr algn="ctr"/>
            <a:r>
              <a:rPr lang="en-ZA" sz="3600" dirty="0">
                <a:solidFill>
                  <a:schemeClr val="bg1"/>
                </a:solidFill>
              </a:rPr>
              <a:t>“Why not Upgrade to large for </a:t>
            </a:r>
            <a:r>
              <a:rPr lang="en-ZA" sz="3600" b="1" i="1" dirty="0">
                <a:solidFill>
                  <a:schemeClr val="bg1"/>
                </a:solidFill>
              </a:rPr>
              <a:t>only </a:t>
            </a:r>
            <a:r>
              <a:rPr lang="en-ZA" sz="3600" dirty="0">
                <a:solidFill>
                  <a:schemeClr val="bg1"/>
                </a:solidFill>
              </a:rPr>
              <a:t>+R5?”  </a:t>
            </a:r>
          </a:p>
          <a:p>
            <a:pPr algn="ctr"/>
            <a:r>
              <a:rPr lang="en-ZA" sz="3600" dirty="0">
                <a:solidFill>
                  <a:schemeClr val="bg1"/>
                </a:solidFill>
              </a:rPr>
              <a:t>Highlight premium option first</a:t>
            </a:r>
          </a:p>
          <a:p>
            <a:pPr marL="0" indent="0" algn="ctr">
              <a:buNone/>
            </a:pPr>
            <a:r>
              <a:rPr lang="en-ZA" sz="3600" dirty="0">
                <a:solidFill>
                  <a:schemeClr val="bg1"/>
                </a:solidFill>
              </a:rPr>
              <a:t>Add point-of-sale </a:t>
            </a:r>
            <a:r>
              <a:rPr lang="en-ZA" sz="3600" b="1" dirty="0">
                <a:solidFill>
                  <a:schemeClr val="bg1"/>
                </a:solidFill>
              </a:rPr>
              <a:t>marketing prompts</a:t>
            </a:r>
            <a:r>
              <a:rPr lang="en-ZA" sz="3600" dirty="0">
                <a:solidFill>
                  <a:schemeClr val="bg1"/>
                </a:solidFill>
              </a:rPr>
              <a:t>: </a:t>
            </a:r>
          </a:p>
          <a:p>
            <a:pPr algn="ctr"/>
            <a:r>
              <a:rPr lang="en-ZA" sz="3600" dirty="0">
                <a:solidFill>
                  <a:schemeClr val="bg1"/>
                </a:solidFill>
              </a:rPr>
              <a:t>“Would you like to add a muffin?”</a:t>
            </a:r>
          </a:p>
          <a:p>
            <a:pPr marL="0" indent="0" algn="ctr">
              <a:buNone/>
            </a:pPr>
            <a:r>
              <a:rPr lang="en-ZA" sz="3600" dirty="0">
                <a:solidFill>
                  <a:schemeClr val="bg1"/>
                </a:solidFill>
              </a:rPr>
              <a:t>Design </a:t>
            </a:r>
            <a:r>
              <a:rPr lang="en-ZA" sz="3600" b="1" dirty="0">
                <a:solidFill>
                  <a:schemeClr val="bg1"/>
                </a:solidFill>
              </a:rPr>
              <a:t>menu structure</a:t>
            </a:r>
            <a:r>
              <a:rPr lang="en-ZA" sz="3600" dirty="0">
                <a:solidFill>
                  <a:schemeClr val="bg1"/>
                </a:solidFill>
              </a:rPr>
              <a:t> to encourage upgrades:</a:t>
            </a:r>
          </a:p>
          <a:p>
            <a:pPr algn="ctr"/>
            <a:r>
              <a:rPr lang="en-ZA" sz="3600" dirty="0">
                <a:solidFill>
                  <a:schemeClr val="bg1"/>
                </a:solidFill>
              </a:rPr>
              <a:t>Default medium/large sizes</a:t>
            </a:r>
          </a:p>
          <a:p>
            <a:pPr marL="0" indent="0" algn="ctr">
              <a:buFont typeface="Courier New" panose="02070309020205020404" pitchFamily="49" charset="0"/>
              <a:buNone/>
            </a:pPr>
            <a:r>
              <a:rPr lang="en-ZA" sz="4800" b="1" dirty="0">
                <a:solidFill>
                  <a:schemeClr val="bg1"/>
                </a:solidFill>
              </a:rPr>
              <a:t>IMPACT:</a:t>
            </a:r>
          </a:p>
          <a:p>
            <a:pPr marL="0" indent="0" algn="ctr">
              <a:buFont typeface="Courier New" panose="02070309020205020404" pitchFamily="49" charset="0"/>
              <a:buNone/>
            </a:pPr>
            <a:r>
              <a:rPr lang="en-ZA" sz="3600" dirty="0">
                <a:solidFill>
                  <a:schemeClr val="bg1"/>
                </a:solidFill>
              </a:rPr>
              <a:t>Uplift in revenue generate per customer</a:t>
            </a:r>
          </a:p>
        </p:txBody>
      </p:sp>
      <p:sp>
        <p:nvSpPr>
          <p:cNvPr id="18" name="Title 2">
            <a:extLst>
              <a:ext uri="{FF2B5EF4-FFF2-40B4-BE49-F238E27FC236}">
                <a16:creationId xmlns:a16="http://schemas.microsoft.com/office/drawing/2014/main" id="{0E77F243-32AB-E4A8-F54E-6FE35F2DCECA}"/>
              </a:ext>
            </a:extLst>
          </p:cNvPr>
          <p:cNvSpPr txBox="1">
            <a:spLocks/>
          </p:cNvSpPr>
          <p:nvPr/>
        </p:nvSpPr>
        <p:spPr>
          <a:xfrm>
            <a:off x="2652700" y="876314"/>
            <a:ext cx="2086903" cy="484632"/>
          </a:xfrm>
          <a:prstGeom prst="rect">
            <a:avLst/>
          </a:prstGeom>
        </p:spPr>
        <p:txBody>
          <a:bodyPr vert="horz" lIns="91440" tIns="0" rIns="9144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800" b="1" kern="1200" cap="none" spc="0" normalizeH="0" baseline="0">
                <a:solidFill>
                  <a:schemeClr val="accent1">
                    <a:lumMod val="1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1400" dirty="0">
                <a:solidFill>
                  <a:schemeClr val="bg1"/>
                </a:solidFill>
              </a:rPr>
              <a:t>OPTIMISE PRODUCT MIX </a:t>
            </a:r>
          </a:p>
          <a:p>
            <a:pPr algn="ctr"/>
            <a:r>
              <a:rPr lang="en-ZA" sz="1200" dirty="0">
                <a:solidFill>
                  <a:schemeClr val="bg1"/>
                </a:solidFill>
              </a:rPr>
              <a:t>(GROW WEAK CATEGORIES, LEVERAGE STRONG ONES)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5158AD3-C9B5-6855-B158-0E8901004BC4}"/>
              </a:ext>
            </a:extLst>
          </p:cNvPr>
          <p:cNvSpPr txBox="1">
            <a:spLocks/>
          </p:cNvSpPr>
          <p:nvPr/>
        </p:nvSpPr>
        <p:spPr>
          <a:xfrm>
            <a:off x="2664618" y="1388859"/>
            <a:ext cx="2084265" cy="2199311"/>
          </a:xfrm>
          <a:prstGeom prst="rect">
            <a:avLst/>
          </a:prstGeom>
          <a:noFill/>
        </p:spPr>
        <p:txBody>
          <a:bodyPr vert="horz" lIns="91440" tIns="91440" rIns="91440" bIns="0" rtlCol="0" anchor="t">
            <a:normAutofit fontScale="25000" lnSpcReduction="20000"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Clr>
                <a:schemeClr val="accent2"/>
              </a:buClr>
              <a:buSzPct val="100000"/>
              <a:buFont typeface="Courier New" panose="02070309020205020404" pitchFamily="49" charset="0"/>
              <a:buChar char="o"/>
              <a:defRPr lang="en-US" sz="1200" kern="1200" dirty="0">
                <a:solidFill>
                  <a:schemeClr val="accent1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ourier New" panose="02070309020205020404" pitchFamily="49" charset="0"/>
              <a:buNone/>
            </a:pPr>
            <a:r>
              <a:rPr lang="en-ZA" sz="4800" b="1" dirty="0">
                <a:solidFill>
                  <a:schemeClr val="bg1"/>
                </a:solidFill>
              </a:rPr>
              <a:t>PROBLEM:</a:t>
            </a:r>
          </a:p>
          <a:p>
            <a:pPr marL="0" indent="0" algn="ctr">
              <a:buNone/>
            </a:pPr>
            <a:r>
              <a:rPr lang="en-ZA" sz="3600" dirty="0">
                <a:solidFill>
                  <a:schemeClr val="bg1"/>
                </a:solidFill>
              </a:rPr>
              <a:t>Revenue is highly concentrated in a few categories; long-tail products underperform</a:t>
            </a:r>
          </a:p>
          <a:p>
            <a:pPr marL="0" indent="0" algn="ctr">
              <a:buNone/>
            </a:pPr>
            <a:r>
              <a:rPr lang="en-ZA" sz="4800" b="1" dirty="0">
                <a:solidFill>
                  <a:schemeClr val="bg1"/>
                </a:solidFill>
              </a:rPr>
              <a:t>ACTIONS:</a:t>
            </a:r>
          </a:p>
          <a:p>
            <a:pPr marL="0" indent="0" algn="ctr">
              <a:buFont typeface="Courier New" panose="02070309020205020404" pitchFamily="49" charset="0"/>
              <a:buNone/>
            </a:pPr>
            <a:r>
              <a:rPr lang="en-ZA" sz="3600" b="1" dirty="0">
                <a:solidFill>
                  <a:schemeClr val="bg1"/>
                </a:solidFill>
              </a:rPr>
              <a:t>Increase visibility</a:t>
            </a:r>
            <a:r>
              <a:rPr lang="en-ZA" sz="3600" dirty="0">
                <a:solidFill>
                  <a:schemeClr val="bg1"/>
                </a:solidFill>
              </a:rPr>
              <a:t> of underperforming products: </a:t>
            </a:r>
          </a:p>
          <a:p>
            <a:pPr algn="ctr"/>
            <a:r>
              <a:rPr lang="en-ZA" sz="3600" dirty="0">
                <a:solidFill>
                  <a:schemeClr val="bg1"/>
                </a:solidFill>
              </a:rPr>
              <a:t>Placement near checkout or high traffic areas</a:t>
            </a:r>
          </a:p>
          <a:p>
            <a:pPr algn="ctr"/>
            <a:r>
              <a:rPr lang="en-ZA" sz="3600" dirty="0">
                <a:solidFill>
                  <a:schemeClr val="bg1"/>
                </a:solidFill>
              </a:rPr>
              <a:t>In-store </a:t>
            </a:r>
            <a:r>
              <a:rPr lang="en-ZA" sz="3600" b="1" dirty="0">
                <a:solidFill>
                  <a:schemeClr val="bg1"/>
                </a:solidFill>
              </a:rPr>
              <a:t>awareness campaigns </a:t>
            </a:r>
          </a:p>
          <a:p>
            <a:pPr lvl="1" algn="ctr"/>
            <a:r>
              <a:rPr lang="en-ZA" sz="3600" dirty="0">
                <a:solidFill>
                  <a:schemeClr val="bg1"/>
                </a:solidFill>
              </a:rPr>
              <a:t>“Try something new today”</a:t>
            </a:r>
          </a:p>
          <a:p>
            <a:pPr lvl="1" algn="ctr"/>
            <a:endParaRPr lang="en-ZA" sz="36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ZA" sz="3600" dirty="0">
                <a:solidFill>
                  <a:schemeClr val="bg1"/>
                </a:solidFill>
              </a:rPr>
              <a:t>Introduce </a:t>
            </a:r>
            <a:r>
              <a:rPr lang="en-ZA" sz="3600" b="1" dirty="0">
                <a:solidFill>
                  <a:schemeClr val="bg1"/>
                </a:solidFill>
              </a:rPr>
              <a:t>pairing recommendations:</a:t>
            </a:r>
          </a:p>
          <a:p>
            <a:pPr algn="ctr"/>
            <a:r>
              <a:rPr lang="en-ZA" sz="3600" dirty="0">
                <a:solidFill>
                  <a:schemeClr val="bg1"/>
                </a:solidFill>
              </a:rPr>
              <a:t>Coffee → pastry / syrup upgrade </a:t>
            </a:r>
            <a:r>
              <a:rPr lang="en-ZA" sz="3600" i="1" dirty="0">
                <a:solidFill>
                  <a:schemeClr val="bg1"/>
                </a:solidFill>
              </a:rPr>
              <a:t>“Perfect with your coffee” </a:t>
            </a:r>
            <a:r>
              <a:rPr lang="en-ZA" sz="3600" dirty="0">
                <a:solidFill>
                  <a:schemeClr val="bg1"/>
                </a:solidFill>
              </a:rPr>
              <a:t>positioning </a:t>
            </a:r>
          </a:p>
          <a:p>
            <a:pPr marL="0" indent="0" algn="ctr">
              <a:buNone/>
            </a:pPr>
            <a:r>
              <a:rPr lang="en-ZA" sz="3600" dirty="0">
                <a:solidFill>
                  <a:schemeClr val="bg1"/>
                </a:solidFill>
              </a:rPr>
              <a:t>Use</a:t>
            </a:r>
            <a:r>
              <a:rPr lang="en-ZA" sz="3600" b="1" dirty="0">
                <a:solidFill>
                  <a:schemeClr val="bg1"/>
                </a:solidFill>
              </a:rPr>
              <a:t> menu cues and combos:</a:t>
            </a:r>
          </a:p>
          <a:p>
            <a:pPr algn="ctr"/>
            <a:r>
              <a:rPr lang="en-ZA" sz="3600" i="1" dirty="0">
                <a:solidFill>
                  <a:schemeClr val="bg1"/>
                </a:solidFill>
              </a:rPr>
              <a:t>“Most people add…”</a:t>
            </a:r>
          </a:p>
          <a:p>
            <a:pPr marL="0" indent="0" algn="ctr">
              <a:buFont typeface="Courier New" panose="02070309020205020404" pitchFamily="49" charset="0"/>
              <a:buNone/>
            </a:pPr>
            <a:r>
              <a:rPr lang="en-ZA" sz="3600" dirty="0">
                <a:solidFill>
                  <a:schemeClr val="bg1"/>
                </a:solidFill>
              </a:rPr>
              <a:t>Staff-led subtle recommendations</a:t>
            </a:r>
          </a:p>
          <a:p>
            <a:pPr marL="0" indent="0" algn="ctr">
              <a:buFont typeface="Courier New" panose="02070309020205020404" pitchFamily="49" charset="0"/>
              <a:buNone/>
            </a:pPr>
            <a:r>
              <a:rPr lang="en-ZA" sz="3600" dirty="0">
                <a:solidFill>
                  <a:schemeClr val="bg1"/>
                </a:solidFill>
              </a:rPr>
              <a:t>Use </a:t>
            </a:r>
            <a:r>
              <a:rPr lang="en-ZA" sz="3600" b="1" dirty="0">
                <a:solidFill>
                  <a:schemeClr val="bg1"/>
                </a:solidFill>
              </a:rPr>
              <a:t>limited-time features </a:t>
            </a:r>
            <a:r>
              <a:rPr lang="en-ZA" sz="3600" dirty="0">
                <a:solidFill>
                  <a:schemeClr val="bg1"/>
                </a:solidFill>
              </a:rPr>
              <a:t>to create urgency</a:t>
            </a:r>
          </a:p>
          <a:p>
            <a:pPr marL="0" indent="0" algn="ctr">
              <a:buFont typeface="Courier New" panose="02070309020205020404" pitchFamily="49" charset="0"/>
              <a:buNone/>
            </a:pPr>
            <a:r>
              <a:rPr lang="en-ZA" sz="4800" b="1" dirty="0">
                <a:solidFill>
                  <a:schemeClr val="bg1"/>
                </a:solidFill>
              </a:rPr>
              <a:t>IMPACT:</a:t>
            </a:r>
          </a:p>
          <a:p>
            <a:pPr marL="0" indent="0" algn="ctr">
              <a:buNone/>
            </a:pPr>
            <a:r>
              <a:rPr lang="en-ZA" sz="3600" dirty="0">
                <a:solidFill>
                  <a:schemeClr val="bg1"/>
                </a:solidFill>
              </a:rPr>
              <a:t>Diversifies revenue &amp; increases contribution from existing products</a:t>
            </a:r>
          </a:p>
        </p:txBody>
      </p:sp>
      <p:sp>
        <p:nvSpPr>
          <p:cNvPr id="24" name="Title 2">
            <a:extLst>
              <a:ext uri="{FF2B5EF4-FFF2-40B4-BE49-F238E27FC236}">
                <a16:creationId xmlns:a16="http://schemas.microsoft.com/office/drawing/2014/main" id="{CA973A47-FDE2-7D9E-FDD8-82C9D7D23B05}"/>
              </a:ext>
            </a:extLst>
          </p:cNvPr>
          <p:cNvSpPr txBox="1">
            <a:spLocks/>
          </p:cNvSpPr>
          <p:nvPr/>
        </p:nvSpPr>
        <p:spPr>
          <a:xfrm>
            <a:off x="10033155" y="517473"/>
            <a:ext cx="2086903" cy="484632"/>
          </a:xfrm>
          <a:prstGeom prst="rect">
            <a:avLst/>
          </a:prstGeom>
        </p:spPr>
        <p:txBody>
          <a:bodyPr vert="horz" lIns="91440" tIns="0" rIns="9144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800" b="1" kern="1200" cap="none" spc="0" normalizeH="0" baseline="0">
                <a:solidFill>
                  <a:schemeClr val="accent1">
                    <a:lumMod val="1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1400" dirty="0">
                <a:solidFill>
                  <a:schemeClr val="bg1"/>
                </a:solidFill>
              </a:rPr>
              <a:t>SIMPLIFY CUSTOMER CHOICE TO DRIVE PRODUCT UPTAKE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270D94C9-CD4C-1C3B-30AB-54C2E4729E38}"/>
              </a:ext>
            </a:extLst>
          </p:cNvPr>
          <p:cNvSpPr txBox="1">
            <a:spLocks/>
          </p:cNvSpPr>
          <p:nvPr/>
        </p:nvSpPr>
        <p:spPr>
          <a:xfrm>
            <a:off x="10045073" y="1360946"/>
            <a:ext cx="2084265" cy="2199311"/>
          </a:xfrm>
          <a:prstGeom prst="rect">
            <a:avLst/>
          </a:prstGeom>
          <a:noFill/>
        </p:spPr>
        <p:txBody>
          <a:bodyPr vert="horz" lIns="91440" tIns="91440" rIns="91440" bIns="0" rtlCol="0" anchor="t">
            <a:normAutofit fontScale="25000" lnSpcReduction="20000"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Clr>
                <a:schemeClr val="accent2"/>
              </a:buClr>
              <a:buSzPct val="100000"/>
              <a:buFont typeface="Courier New" panose="02070309020205020404" pitchFamily="49" charset="0"/>
              <a:buChar char="o"/>
              <a:defRPr lang="en-US" sz="1200" kern="1200" dirty="0">
                <a:solidFill>
                  <a:schemeClr val="accent1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ourier New" panose="02070309020205020404" pitchFamily="49" charset="0"/>
              <a:buNone/>
            </a:pPr>
            <a:r>
              <a:rPr lang="en-ZA" sz="4800" b="1" dirty="0">
                <a:solidFill>
                  <a:schemeClr val="bg1"/>
                </a:solidFill>
              </a:rPr>
              <a:t>PROBLEM:</a:t>
            </a:r>
          </a:p>
          <a:p>
            <a:pPr marL="0" indent="0" algn="ctr">
              <a:buNone/>
            </a:pPr>
            <a:r>
              <a:rPr lang="en-ZA" sz="3600" dirty="0">
                <a:solidFill>
                  <a:schemeClr val="bg1"/>
                </a:solidFill>
              </a:rPr>
              <a:t>Too many options results in customers defaulting to familiar items</a:t>
            </a:r>
          </a:p>
          <a:p>
            <a:pPr marL="0" indent="0" algn="ctr">
              <a:buNone/>
            </a:pPr>
            <a:r>
              <a:rPr lang="en-ZA" sz="4800" b="1" dirty="0">
                <a:solidFill>
                  <a:schemeClr val="bg1"/>
                </a:solidFill>
              </a:rPr>
              <a:t>ACTIONS:</a:t>
            </a:r>
          </a:p>
          <a:p>
            <a:pPr marL="0" indent="0" algn="ctr">
              <a:buFont typeface="Courier New" panose="02070309020205020404" pitchFamily="49" charset="0"/>
              <a:buNone/>
            </a:pPr>
            <a:r>
              <a:rPr lang="en-ZA" sz="3600" dirty="0">
                <a:solidFill>
                  <a:schemeClr val="bg1"/>
                </a:solidFill>
              </a:rPr>
              <a:t>Use social proofing:</a:t>
            </a:r>
          </a:p>
          <a:p>
            <a:pPr algn="ctr"/>
            <a:r>
              <a:rPr lang="en-ZA" sz="3600" dirty="0">
                <a:solidFill>
                  <a:schemeClr val="bg1"/>
                </a:solidFill>
              </a:rPr>
              <a:t>Introduce curated sections </a:t>
            </a:r>
            <a:r>
              <a:rPr lang="en-ZA" sz="3600" b="1" dirty="0">
                <a:solidFill>
                  <a:schemeClr val="bg1"/>
                </a:solidFill>
              </a:rPr>
              <a:t>“Best Sellers” / “Recommended Picks”/ “Staff Picks” </a:t>
            </a:r>
            <a:endParaRPr lang="en-ZA" sz="3600" dirty="0">
              <a:solidFill>
                <a:schemeClr val="bg1"/>
              </a:solidFill>
            </a:endParaRPr>
          </a:p>
          <a:p>
            <a:pPr algn="ctr"/>
            <a:r>
              <a:rPr lang="en-ZA" sz="3600" dirty="0">
                <a:solidFill>
                  <a:schemeClr val="bg1"/>
                </a:solidFill>
              </a:rPr>
              <a:t>Highlight visually: </a:t>
            </a:r>
          </a:p>
          <a:p>
            <a:pPr lvl="1" algn="ctr"/>
            <a:r>
              <a:rPr lang="en-ZA" sz="4000" dirty="0">
                <a:solidFill>
                  <a:schemeClr val="bg1"/>
                </a:solidFill>
              </a:rPr>
              <a:t>“</a:t>
            </a:r>
            <a:r>
              <a:rPr lang="en-ZA" sz="3600" dirty="0">
                <a:solidFill>
                  <a:schemeClr val="bg1"/>
                </a:solidFill>
              </a:rPr>
              <a:t>Top 5 drinks</a:t>
            </a:r>
            <a:r>
              <a:rPr lang="en-ZA" sz="4000" dirty="0">
                <a:solidFill>
                  <a:schemeClr val="bg1"/>
                </a:solidFill>
              </a:rPr>
              <a:t>/ </a:t>
            </a:r>
            <a:r>
              <a:rPr lang="en-ZA" sz="3600" dirty="0">
                <a:solidFill>
                  <a:schemeClr val="bg1"/>
                </a:solidFill>
              </a:rPr>
              <a:t>“Customer Favourites” </a:t>
            </a:r>
          </a:p>
          <a:p>
            <a:pPr marL="0" indent="0" algn="ctr">
              <a:buFont typeface="Courier New" panose="02070309020205020404" pitchFamily="49" charset="0"/>
              <a:buNone/>
            </a:pPr>
            <a:r>
              <a:rPr lang="en-ZA" sz="3600" dirty="0">
                <a:solidFill>
                  <a:schemeClr val="bg1"/>
                </a:solidFill>
              </a:rPr>
              <a:t>Use </a:t>
            </a:r>
            <a:r>
              <a:rPr lang="en-ZA" sz="3600" b="1" dirty="0">
                <a:solidFill>
                  <a:schemeClr val="bg1"/>
                </a:solidFill>
              </a:rPr>
              <a:t>visual cues at point of sale </a:t>
            </a:r>
            <a:r>
              <a:rPr lang="en-ZA" sz="3600" dirty="0">
                <a:solidFill>
                  <a:schemeClr val="bg1"/>
                </a:solidFill>
              </a:rPr>
              <a:t>and consider menu redesign (use visual hierarchy i.e. bolding, placement)  </a:t>
            </a:r>
          </a:p>
          <a:p>
            <a:pPr marL="0" indent="0" algn="ctr">
              <a:buFont typeface="Courier New" panose="02070309020205020404" pitchFamily="49" charset="0"/>
              <a:buNone/>
            </a:pPr>
            <a:r>
              <a:rPr lang="en-ZA" sz="4800" b="1" dirty="0">
                <a:solidFill>
                  <a:schemeClr val="bg1"/>
                </a:solidFill>
              </a:rPr>
              <a:t>IMPACT:</a:t>
            </a:r>
          </a:p>
          <a:p>
            <a:pPr marL="0" indent="0" algn="ctr">
              <a:buNone/>
            </a:pPr>
            <a:r>
              <a:rPr lang="en-ZA" sz="3600" dirty="0">
                <a:solidFill>
                  <a:schemeClr val="bg1"/>
                </a:solidFill>
              </a:rPr>
              <a:t>Increases uptake of </a:t>
            </a:r>
            <a:r>
              <a:rPr lang="en-ZA" sz="3600" b="1" dirty="0">
                <a:solidFill>
                  <a:schemeClr val="bg1"/>
                </a:solidFill>
              </a:rPr>
              <a:t>underperforming and high-margin products</a:t>
            </a:r>
            <a:endParaRPr lang="en-ZA" sz="3600" dirty="0">
              <a:solidFill>
                <a:schemeClr val="bg1"/>
              </a:solidFill>
            </a:endParaRPr>
          </a:p>
        </p:txBody>
      </p:sp>
      <p:sp>
        <p:nvSpPr>
          <p:cNvPr id="33" name="Title 2">
            <a:extLst>
              <a:ext uri="{FF2B5EF4-FFF2-40B4-BE49-F238E27FC236}">
                <a16:creationId xmlns:a16="http://schemas.microsoft.com/office/drawing/2014/main" id="{7D2DD61E-8406-213C-79B0-EC868F59F2C1}"/>
              </a:ext>
            </a:extLst>
          </p:cNvPr>
          <p:cNvSpPr txBox="1">
            <a:spLocks/>
          </p:cNvSpPr>
          <p:nvPr/>
        </p:nvSpPr>
        <p:spPr>
          <a:xfrm>
            <a:off x="172891" y="735189"/>
            <a:ext cx="2086903" cy="484632"/>
          </a:xfrm>
          <a:prstGeom prst="rect">
            <a:avLst/>
          </a:prstGeom>
        </p:spPr>
        <p:txBody>
          <a:bodyPr vert="horz" lIns="91440" tIns="0" rIns="9144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800" b="1" kern="1200" cap="none" spc="0" normalizeH="0" baseline="0">
                <a:solidFill>
                  <a:schemeClr val="accent1">
                    <a:lumMod val="1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1400" dirty="0">
                <a:solidFill>
                  <a:schemeClr val="bg1"/>
                </a:solidFill>
              </a:rPr>
              <a:t>INTRODUCE LOYALTY PROGRAMMES TO DRIVE RETENTION &amp; FREQUENCY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44AE4330-A6F4-B794-9DC9-45BC933DC434}"/>
              </a:ext>
            </a:extLst>
          </p:cNvPr>
          <p:cNvSpPr txBox="1">
            <a:spLocks/>
          </p:cNvSpPr>
          <p:nvPr/>
        </p:nvSpPr>
        <p:spPr>
          <a:xfrm>
            <a:off x="184809" y="1360946"/>
            <a:ext cx="2084265" cy="2199311"/>
          </a:xfrm>
          <a:prstGeom prst="rect">
            <a:avLst/>
          </a:prstGeom>
          <a:noFill/>
        </p:spPr>
        <p:txBody>
          <a:bodyPr vert="horz" lIns="91440" tIns="91440" rIns="91440" bIns="0" rtlCol="0" anchor="t">
            <a:normAutofit fontScale="25000" lnSpcReduction="20000"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Clr>
                <a:schemeClr val="accent2"/>
              </a:buClr>
              <a:buSzPct val="100000"/>
              <a:buFont typeface="Courier New" panose="02070309020205020404" pitchFamily="49" charset="0"/>
              <a:buChar char="o"/>
              <a:defRPr lang="en-US" sz="1200" kern="1200" dirty="0">
                <a:solidFill>
                  <a:schemeClr val="accent1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ourier New" panose="02070309020205020404" pitchFamily="49" charset="0"/>
              <a:buNone/>
            </a:pPr>
            <a:r>
              <a:rPr lang="en-ZA" sz="4800" b="1" dirty="0">
                <a:solidFill>
                  <a:schemeClr val="bg1"/>
                </a:solidFill>
              </a:rPr>
              <a:t>PROBLEM:</a:t>
            </a:r>
          </a:p>
          <a:p>
            <a:pPr marL="0" indent="0" algn="ctr">
              <a:buNone/>
            </a:pPr>
            <a:r>
              <a:rPr lang="en-ZA" sz="3600" dirty="0">
                <a:solidFill>
                  <a:schemeClr val="bg1"/>
                </a:solidFill>
              </a:rPr>
              <a:t>There is no structured mechanism to encourage repeat visits or build customer habits.</a:t>
            </a:r>
          </a:p>
          <a:p>
            <a:pPr marL="0" indent="0" algn="ctr">
              <a:buNone/>
            </a:pPr>
            <a:r>
              <a:rPr lang="en-ZA" sz="4800" b="1" dirty="0">
                <a:solidFill>
                  <a:schemeClr val="bg1"/>
                </a:solidFill>
              </a:rPr>
              <a:t>ACTIONS:</a:t>
            </a:r>
          </a:p>
          <a:p>
            <a:pPr marL="0" indent="0" algn="ctr">
              <a:buFont typeface="Courier New" panose="02070309020205020404" pitchFamily="49" charset="0"/>
              <a:buNone/>
            </a:pPr>
            <a:r>
              <a:rPr lang="en-ZA" sz="3600" dirty="0">
                <a:solidFill>
                  <a:schemeClr val="bg1"/>
                </a:solidFill>
              </a:rPr>
              <a:t>Launch a simple loyalty programme: </a:t>
            </a:r>
          </a:p>
          <a:p>
            <a:pPr algn="ctr"/>
            <a:r>
              <a:rPr lang="en-ZA" sz="3600" dirty="0">
                <a:solidFill>
                  <a:schemeClr val="bg1"/>
                </a:solidFill>
              </a:rPr>
              <a:t>“Buy 5, get 1 free” </a:t>
            </a:r>
          </a:p>
          <a:p>
            <a:pPr marL="0" indent="0" algn="ctr">
              <a:buFont typeface="Courier New" panose="02070309020205020404" pitchFamily="49" charset="0"/>
              <a:buNone/>
            </a:pPr>
            <a:r>
              <a:rPr lang="en-ZA" sz="3600" dirty="0">
                <a:solidFill>
                  <a:schemeClr val="bg1"/>
                </a:solidFill>
              </a:rPr>
              <a:t>Digitise tracking (app or QR-based system) </a:t>
            </a:r>
          </a:p>
          <a:p>
            <a:pPr algn="ctr"/>
            <a:r>
              <a:rPr lang="en-ZA" sz="3600" dirty="0">
                <a:solidFill>
                  <a:schemeClr val="bg1"/>
                </a:solidFill>
              </a:rPr>
              <a:t>Enable ability to order, earn and spend points on app</a:t>
            </a:r>
          </a:p>
          <a:p>
            <a:pPr algn="ctr"/>
            <a:r>
              <a:rPr lang="en-ZA" sz="3600" dirty="0">
                <a:solidFill>
                  <a:schemeClr val="bg1"/>
                </a:solidFill>
              </a:rPr>
              <a:t>Explore the use of gamification</a:t>
            </a:r>
          </a:p>
          <a:p>
            <a:pPr lvl="1" algn="ctr"/>
            <a:r>
              <a:rPr lang="en-ZA" sz="3600" i="1" dirty="0">
                <a:solidFill>
                  <a:schemeClr val="bg1"/>
                </a:solidFill>
              </a:rPr>
              <a:t>Added benefit – additional data points to drive targeted and personalised campaigns </a:t>
            </a:r>
            <a:endParaRPr lang="en-ZA" sz="4000" i="1" dirty="0">
              <a:solidFill>
                <a:schemeClr val="bg1"/>
              </a:solidFill>
            </a:endParaRPr>
          </a:p>
          <a:p>
            <a:pPr marL="0" indent="0" algn="ctr">
              <a:buFont typeface="Courier New" panose="02070309020205020404" pitchFamily="49" charset="0"/>
              <a:buNone/>
            </a:pPr>
            <a:r>
              <a:rPr lang="en-ZA" sz="3600" dirty="0">
                <a:solidFill>
                  <a:schemeClr val="bg1"/>
                </a:solidFill>
              </a:rPr>
              <a:t>Reward desired behaviours: </a:t>
            </a:r>
          </a:p>
          <a:p>
            <a:pPr algn="ctr"/>
            <a:r>
              <a:rPr lang="en-ZA" sz="3600" dirty="0">
                <a:solidFill>
                  <a:schemeClr val="bg1"/>
                </a:solidFill>
              </a:rPr>
              <a:t>Extra points for off-peak purchases </a:t>
            </a:r>
          </a:p>
          <a:p>
            <a:pPr marL="0" indent="0" algn="ctr">
              <a:buFont typeface="Courier New" panose="02070309020205020404" pitchFamily="49" charset="0"/>
              <a:buNone/>
            </a:pPr>
            <a:r>
              <a:rPr lang="en-ZA" sz="3600" dirty="0">
                <a:solidFill>
                  <a:schemeClr val="bg1"/>
                </a:solidFill>
              </a:rPr>
              <a:t>Introduce tiered rewards: </a:t>
            </a:r>
          </a:p>
          <a:p>
            <a:pPr algn="ctr"/>
            <a:r>
              <a:rPr lang="en-ZA" sz="3600" dirty="0">
                <a:solidFill>
                  <a:schemeClr val="bg1"/>
                </a:solidFill>
              </a:rPr>
              <a:t>Bronze → Silver → Gold customers and have discounts tied to the tiers</a:t>
            </a:r>
          </a:p>
          <a:p>
            <a:pPr marL="0" indent="0" algn="ctr">
              <a:buFont typeface="Courier New" panose="02070309020205020404" pitchFamily="49" charset="0"/>
              <a:buNone/>
            </a:pPr>
            <a:r>
              <a:rPr lang="en-ZA" sz="4800" b="1" dirty="0">
                <a:solidFill>
                  <a:schemeClr val="bg1"/>
                </a:solidFill>
              </a:rPr>
              <a:t>IMPACT:</a:t>
            </a:r>
          </a:p>
          <a:p>
            <a:pPr marL="0" indent="0" algn="ctr">
              <a:buNone/>
            </a:pPr>
            <a:r>
              <a:rPr lang="en-ZA" sz="3600" dirty="0">
                <a:solidFill>
                  <a:schemeClr val="bg1"/>
                </a:solidFill>
              </a:rPr>
              <a:t>Increases visit frequency &amp; builds long-term customer value</a:t>
            </a:r>
          </a:p>
        </p:txBody>
      </p:sp>
      <p:sp>
        <p:nvSpPr>
          <p:cNvPr id="28" name="Rectangle 1">
            <a:extLst>
              <a:ext uri="{FF2B5EF4-FFF2-40B4-BE49-F238E27FC236}">
                <a16:creationId xmlns:a16="http://schemas.microsoft.com/office/drawing/2014/main" id="{5534DDA3-02C0-7CA0-E55A-BABC33ED1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EB3960AF-9E50-FAF9-30C0-3F799FDFA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" r="-12626" b="18784"/>
          <a:stretch>
            <a:fillRect/>
          </a:stretch>
        </p:blipFill>
        <p:spPr>
          <a:xfrm>
            <a:off x="5689761" y="6003339"/>
            <a:ext cx="864454" cy="77921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E9010FBE-BDAE-BF61-5123-CCD0F203BA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1" r="-10000" b="16347"/>
          <a:stretch>
            <a:fillRect/>
          </a:stretch>
        </p:blipFill>
        <p:spPr>
          <a:xfrm>
            <a:off x="8262213" y="5960290"/>
            <a:ext cx="720226" cy="684643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7EF084DA-E7E0-3182-D1ED-16271E12B0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" r="-12281" b="17588"/>
          <a:stretch>
            <a:fillRect/>
          </a:stretch>
        </p:blipFill>
        <p:spPr>
          <a:xfrm>
            <a:off x="10846555" y="5913006"/>
            <a:ext cx="849296" cy="77921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3FFC2B5A-BEEE-F900-97C5-B7B5F8FA62E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r="-9700" b="6250"/>
          <a:stretch>
            <a:fillRect/>
          </a:stretch>
        </p:blipFill>
        <p:spPr>
          <a:xfrm>
            <a:off x="3410879" y="6031979"/>
            <a:ext cx="675806" cy="72193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8231FF31-8A8E-AFAE-DEFA-5968A99F658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b="14444"/>
          <a:stretch>
            <a:fillRect/>
          </a:stretch>
        </p:blipFill>
        <p:spPr>
          <a:xfrm>
            <a:off x="788719" y="5851315"/>
            <a:ext cx="859607" cy="90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844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Placeholder 19" descr="A pile of coffee beans ">
            <a:extLst>
              <a:ext uri="{FF2B5EF4-FFF2-40B4-BE49-F238E27FC236}">
                <a16:creationId xmlns:a16="http://schemas.microsoft.com/office/drawing/2014/main" id="{AB5FDD94-2E49-4EA4-09F4-9C0C9A6F619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B2022D1-ECE0-1474-028C-B795A5304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352" y="1970664"/>
            <a:ext cx="5113020" cy="762338"/>
          </a:xfrm>
        </p:spPr>
        <p:txBody>
          <a:bodyPr>
            <a:noAutofit/>
          </a:bodyPr>
          <a:lstStyle/>
          <a:p>
            <a:pPr algn="ctr"/>
            <a:r>
              <a:rPr lang="en-US" sz="6000" dirty="0"/>
              <a:t>Thank you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33A49E-B51D-1395-EC68-B125A03571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78580" y="2954062"/>
            <a:ext cx="4434840" cy="1454381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Refilwe Mofokeng</a:t>
            </a:r>
          </a:p>
        </p:txBody>
      </p:sp>
    </p:spTree>
    <p:extLst>
      <p:ext uri="{BB962C8B-B14F-4D97-AF65-F5344CB8AC3E}">
        <p14:creationId xmlns:p14="http://schemas.microsoft.com/office/powerpoint/2010/main" val="118192077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60">
      <a:dk1>
        <a:srgbClr val="000000"/>
      </a:dk1>
      <a:lt1>
        <a:srgbClr val="FFFFFF"/>
      </a:lt1>
      <a:dk2>
        <a:srgbClr val="E2D4C0"/>
      </a:dk2>
      <a:lt2>
        <a:srgbClr val="E6E6E6"/>
      </a:lt2>
      <a:accent1>
        <a:srgbClr val="E2CBB9"/>
      </a:accent1>
      <a:accent2>
        <a:srgbClr val="843F00"/>
      </a:accent2>
      <a:accent3>
        <a:srgbClr val="562F08"/>
      </a:accent3>
      <a:accent4>
        <a:srgbClr val="91CF50"/>
      </a:accent4>
      <a:accent5>
        <a:srgbClr val="2B9C4F"/>
      </a:accent5>
      <a:accent6>
        <a:srgbClr val="0B7149"/>
      </a:accent6>
      <a:hlink>
        <a:srgbClr val="FFF8F9"/>
      </a:hlink>
      <a:folHlink>
        <a:srgbClr val="2B6ACD"/>
      </a:folHlink>
    </a:clrScheme>
    <a:fontScheme name="Custom 71">
      <a:majorFont>
        <a:latin typeface="Lato Black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01884_Win32_SL_v5" id="{7AFE633C-0110-4F77-84ED-A8BF8EBFD362}" vid="{80EE89D2-E5CC-48AF-BB35-D1580B9181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EAE634-DEC4-4395-A997-0E4563AFF11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510185-06BE-4162-BEE1-5DC8B9C9C1B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BBDD14FD-BC23-4945-A0FC-5BDE75B3DF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Coffee Shop Business Pitch Deck</Template>
  <TotalTime>1510</TotalTime>
  <Words>1188</Words>
  <Application>Microsoft Office PowerPoint</Application>
  <PresentationFormat>Widescreen</PresentationFormat>
  <Paragraphs>193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Courier New</vt:lpstr>
      <vt:lpstr>Lato</vt:lpstr>
      <vt:lpstr>Lato Black</vt:lpstr>
      <vt:lpstr>Custom</vt:lpstr>
      <vt:lpstr>Revenue Performance Insights &amp; recommendations</vt:lpstr>
      <vt:lpstr>PowerPoint Presentation</vt:lpstr>
      <vt:lpstr>Revenue growth is strong but constrained by demand concentration and suboptimal product utilisation, creating opportunities to drive targeted product uptake and expand demand across time periods</vt:lpstr>
      <vt:lpstr>Revenue overview</vt:lpstr>
      <vt:lpstr>Revenue trends over time</vt:lpstr>
      <vt:lpstr>PowerPoint Presentation</vt:lpstr>
      <vt:lpstr>Recommendations</vt:lpstr>
      <vt:lpstr>ACTIVATE OFF-PEAK DEMAND</vt:lpstr>
      <vt:lpstr>Thank you</vt:lpstr>
    </vt:vector>
  </TitlesOfParts>
  <Company>Standard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Mofokeng, Refilwe R</dc:creator>
  <cp:lastModifiedBy>Mofokeng, Refilwe R</cp:lastModifiedBy>
  <cp:revision>2</cp:revision>
  <dcterms:created xsi:type="dcterms:W3CDTF">2026-03-30T08:03:50Z</dcterms:created>
  <dcterms:modified xsi:type="dcterms:W3CDTF">2026-03-31T15:45:21Z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027a3850-2850-457c-8efb-fdd5fa4d27d3_Enabled">
    <vt:lpwstr>true</vt:lpwstr>
  </property>
  <property fmtid="{D5CDD505-2E9C-101B-9397-08002B2CF9AE}" pid="4" name="MSIP_Label_027a3850-2850-457c-8efb-fdd5fa4d27d3_SetDate">
    <vt:lpwstr>2026-03-30T14:32:25Z</vt:lpwstr>
  </property>
  <property fmtid="{D5CDD505-2E9C-101B-9397-08002B2CF9AE}" pid="5" name="MSIP_Label_027a3850-2850-457c-8efb-fdd5fa4d27d3_Method">
    <vt:lpwstr>Standard</vt:lpwstr>
  </property>
  <property fmtid="{D5CDD505-2E9C-101B-9397-08002B2CF9AE}" pid="6" name="MSIP_Label_027a3850-2850-457c-8efb-fdd5fa4d27d3_Name">
    <vt:lpwstr>027a3850-2850-457c-8efb-fdd5fa4d27d3</vt:lpwstr>
  </property>
  <property fmtid="{D5CDD505-2E9C-101B-9397-08002B2CF9AE}" pid="7" name="MSIP_Label_027a3850-2850-457c-8efb-fdd5fa4d27d3_SiteId">
    <vt:lpwstr>7369e6ec-faa6-42fa-bc0e-4f332da5b1db</vt:lpwstr>
  </property>
  <property fmtid="{D5CDD505-2E9C-101B-9397-08002B2CF9AE}" pid="8" name="MSIP_Label_027a3850-2850-457c-8efb-fdd5fa4d27d3_ActionId">
    <vt:lpwstr>8318f6a1-48bc-448d-89e7-ae8bef4a1aab</vt:lpwstr>
  </property>
  <property fmtid="{D5CDD505-2E9C-101B-9397-08002B2CF9AE}" pid="9" name="MSIP_Label_027a3850-2850-457c-8efb-fdd5fa4d27d3_ContentBits">
    <vt:lpwstr>0</vt:lpwstr>
  </property>
  <property fmtid="{D5CDD505-2E9C-101B-9397-08002B2CF9AE}" pid="10" name="MSIP_Label_027a3850-2850-457c-8efb-fdd5fa4d27d3_Tag">
    <vt:lpwstr>10, 3, 0, 1</vt:lpwstr>
  </property>
</Properties>
</file>